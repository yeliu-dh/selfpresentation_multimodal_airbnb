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90" r:id="rId3"/>
    <p:sldId id="270" r:id="rId4"/>
    <p:sldId id="271" r:id="rId5"/>
    <p:sldId id="292" r:id="rId6"/>
    <p:sldId id="275" r:id="rId7"/>
    <p:sldId id="272" r:id="rId8"/>
    <p:sldId id="274" r:id="rId9"/>
    <p:sldId id="266" r:id="rId10"/>
    <p:sldId id="276" r:id="rId11"/>
    <p:sldId id="260" r:id="rId12"/>
    <p:sldId id="277" r:id="rId13"/>
    <p:sldId id="281" r:id="rId14"/>
    <p:sldId id="282" r:id="rId15"/>
    <p:sldId id="280" r:id="rId16"/>
    <p:sldId id="267" r:id="rId17"/>
    <p:sldId id="287" r:id="rId18"/>
    <p:sldId id="294" r:id="rId19"/>
    <p:sldId id="29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37" autoAdjust="0"/>
    <p:restoredTop sz="64739" autoAdjust="0"/>
  </p:normalViewPr>
  <p:slideViewPr>
    <p:cSldViewPr snapToGrid="0">
      <p:cViewPr varScale="1">
        <p:scale>
          <a:sx n="57" d="100"/>
          <a:sy n="57" d="100"/>
        </p:scale>
        <p:origin x="67" y="149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685A0-8AEF-4271-9EE2-A7EEF7B620A7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309F5-6F5B-4A9B-A72E-7796625AD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76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Bonjour, je vous présente </a:t>
            </a:r>
            <a:r>
              <a:rPr lang="fr-FR" altLang="zh-CN" dirty="0" err="1"/>
              <a:t>ajd</a:t>
            </a:r>
            <a:r>
              <a:rPr lang="fr-FR" altLang="zh-CN" dirty="0"/>
              <a:t> ma recherche sur les stratégies de la présentation de soi des hôtes </a:t>
            </a:r>
            <a:r>
              <a:rPr lang="fr-FR" altLang="zh-CN" dirty="0" err="1"/>
              <a:t>airbnb</a:t>
            </a:r>
            <a:r>
              <a:rPr lang="fr-FR" altLang="zh-CN" dirty="0"/>
              <a:t> en réponse aux </a:t>
            </a:r>
            <a:r>
              <a:rPr lang="fr-FR" altLang="zh-CN" dirty="0" err="1"/>
              <a:t>jo</a:t>
            </a:r>
            <a:r>
              <a:rPr lang="fr-FR" altLang="zh-CN" dirty="0"/>
              <a:t> de paris 2024.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17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Ma </a:t>
            </a:r>
            <a:r>
              <a:rPr lang="fr-FR" altLang="zh-CN" dirty="0" err="1"/>
              <a:t>pre</a:t>
            </a:r>
            <a:r>
              <a:rPr lang="fr-FR" altLang="zh-CN" dirty="0"/>
              <a:t> </a:t>
            </a:r>
            <a:r>
              <a:rPr lang="en-US" altLang="zh-CN" dirty="0"/>
              <a:t>est</a:t>
            </a:r>
            <a:r>
              <a:rPr lang="fr-FR" altLang="zh-CN" dirty="0"/>
              <a:t> organisée en </a:t>
            </a:r>
            <a:r>
              <a:rPr lang="fr-FR" altLang="zh-CN" dirty="0" err="1"/>
              <a:t>quequels</a:t>
            </a:r>
            <a:r>
              <a:rPr lang="fr-FR" altLang="zh-CN" dirty="0"/>
              <a:t> parties:</a:t>
            </a:r>
          </a:p>
          <a:p>
            <a:endParaRPr lang="fr-FR" altLang="zh-CN" dirty="0"/>
          </a:p>
          <a:p>
            <a:r>
              <a:rPr lang="fr-FR" altLang="zh-CN" dirty="0"/>
              <a:t>D’abord, je commence par une introduction du contexte et je formule mes questions de recherche et des hypo</a:t>
            </a:r>
          </a:p>
          <a:p>
            <a:endParaRPr lang="fr-FR" altLang="zh-CN" dirty="0"/>
          </a:p>
          <a:p>
            <a:r>
              <a:rPr lang="fr-FR" altLang="zh-CN" dirty="0"/>
              <a:t>Ensuite, je présente les données que j’ai mobilisées et les approches pour mesurer les tactiques (textuelles et visuelles)</a:t>
            </a:r>
          </a:p>
          <a:p>
            <a:endParaRPr lang="fr-FR" altLang="zh-CN" dirty="0"/>
          </a:p>
          <a:p>
            <a:r>
              <a:rPr lang="fr-FR" altLang="zh-CN" dirty="0"/>
              <a:t>Enfin, je présente des analyses descriptives, les résultats des modèles pour identifier les ajustements des </a:t>
            </a:r>
            <a:r>
              <a:rPr lang="fr-FR" altLang="zh-CN" dirty="0" err="1"/>
              <a:t>sp</a:t>
            </a:r>
            <a:r>
              <a:rPr lang="fr-FR" altLang="zh-CN" dirty="0"/>
              <a:t> ainsi que les différences des ajustements selon le profil de l’hôte.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380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Je situe ma recherche de </a:t>
            </a:r>
            <a:r>
              <a:rPr lang="fr-FR" altLang="zh-CN" dirty="0" err="1"/>
              <a:t>sp</a:t>
            </a:r>
            <a:r>
              <a:rPr lang="fr-FR" altLang="zh-CN" dirty="0"/>
              <a:t> dans un contexte </a:t>
            </a:r>
            <a:r>
              <a:rPr lang="fr-FR" altLang="zh-CN" dirty="0" err="1"/>
              <a:t>d’ab</a:t>
            </a:r>
            <a:r>
              <a:rPr lang="fr-FR" altLang="zh-CN" dirty="0"/>
              <a:t> et de </a:t>
            </a:r>
            <a:r>
              <a:rPr lang="fr-FR" altLang="zh-CN" dirty="0" err="1"/>
              <a:t>jo</a:t>
            </a:r>
            <a:r>
              <a:rPr lang="fr-FR" altLang="zh-CN" dirty="0"/>
              <a:t>.</a:t>
            </a:r>
          </a:p>
          <a:p>
            <a:endParaRPr lang="fr-FR" altLang="zh-CN" dirty="0"/>
          </a:p>
          <a:p>
            <a:r>
              <a:rPr lang="fr-FR" altLang="zh-CN" dirty="0"/>
              <a:t> </a:t>
            </a:r>
          </a:p>
          <a:p>
            <a:r>
              <a:rPr lang="fr-FR" altLang="zh-CN" dirty="0"/>
              <a:t>Airbnb </a:t>
            </a:r>
            <a:r>
              <a:rPr lang="en-US" altLang="zh-CN" dirty="0"/>
              <a:t>repose</a:t>
            </a:r>
            <a:r>
              <a:rPr lang="fr-FR" altLang="zh-CN" dirty="0"/>
              <a:t> sur des échanges entre inconnus, où la </a:t>
            </a:r>
            <a:r>
              <a:rPr lang="fr-FR" altLang="zh-CN" b="1" dirty="0"/>
              <a:t>confiance</a:t>
            </a:r>
            <a:r>
              <a:rPr lang="fr-FR" altLang="zh-CN" dirty="0"/>
              <a:t> joue un rôle essentiel.</a:t>
            </a:r>
          </a:p>
          <a:p>
            <a:endParaRPr lang="fr-FR" altLang="zh-CN" dirty="0"/>
          </a:p>
          <a:p>
            <a:r>
              <a:rPr lang="fr-FR" altLang="zh-CN" dirty="0"/>
              <a:t>Pour construire cette confiance, les hôtes Airbnb mobilisent non seulement le système de réputation, comme la note, les commentaires, le badge de </a:t>
            </a:r>
            <a:r>
              <a:rPr lang="fr-FR" altLang="zh-CN" dirty="0" err="1"/>
              <a:t>Superhôte</a:t>
            </a:r>
            <a:r>
              <a:rPr lang="fr-FR" altLang="zh-CN" dirty="0"/>
              <a:t>,  ils s’appuient aussi sur leur </a:t>
            </a:r>
            <a:r>
              <a:rPr lang="fr-FR" altLang="zh-CN" b="1" dirty="0"/>
              <a:t>présentation de soi </a:t>
            </a:r>
            <a:r>
              <a:rPr lang="fr-FR" altLang="zh-CN" b="0" dirty="0"/>
              <a:t> pour transmettre les signaux de crédibilité</a:t>
            </a:r>
            <a:r>
              <a:rPr lang="fr-FR" altLang="zh-CN" dirty="0"/>
              <a:t>.</a:t>
            </a:r>
          </a:p>
          <a:p>
            <a:endParaRPr lang="fr-FR" altLang="zh-CN" dirty="0"/>
          </a:p>
          <a:p>
            <a:r>
              <a:rPr lang="fr-FR" altLang="zh-CN" dirty="0"/>
              <a:t>Selon la littérature, la présentation de soi est un processus </a:t>
            </a:r>
            <a:r>
              <a:rPr lang="fr-FR" altLang="zh-CN" b="1" dirty="0"/>
              <a:t>dynamique, stratégique et contextuelle</a:t>
            </a:r>
            <a:r>
              <a:rPr lang="fr-FR" altLang="zh-CN" dirty="0"/>
              <a:t>.</a:t>
            </a:r>
          </a:p>
          <a:p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Pour observer concrètement ces caractéristiques de la présentation de soi,  les JO</a:t>
            </a:r>
            <a:r>
              <a:rPr lang="fr-FR" altLang="zh-CN" b="1" dirty="0"/>
              <a:t> offrent un contexte pertinent,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Au fait qu’ils</a:t>
            </a:r>
            <a:r>
              <a:rPr lang="fr-FR" altLang="zh-CN" b="1" dirty="0"/>
              <a:t> </a:t>
            </a:r>
            <a:r>
              <a:rPr lang="en-US" altLang="zh-CN" dirty="0" err="1"/>
              <a:t>ont</a:t>
            </a:r>
            <a:r>
              <a:rPr lang="en-US" altLang="zh-CN" dirty="0"/>
              <a:t> for</a:t>
            </a:r>
            <a:r>
              <a:rPr lang="fr-FR" altLang="zh-CN" dirty="0" err="1"/>
              <a:t>tement</a:t>
            </a:r>
            <a:r>
              <a:rPr lang="fr-FR" altLang="zh-CN" dirty="0"/>
              <a:t> modifié les conditions du marché avec l’afflux des touristes internationaux.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更强调环境变化，不一定加变化细节？：</a:t>
            </a:r>
            <a:r>
              <a:rPr lang="fr-FR" altLang="zh-CN" dirty="0"/>
              <a:t>(entraîne une augmentation de l’offre et de la demande sur le marché,)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174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Dans ce contexte, </a:t>
            </a:r>
            <a:r>
              <a:rPr lang="en-US" altLang="zh-CN" dirty="0"/>
              <a:t>je</a:t>
            </a:r>
            <a:r>
              <a:rPr lang="fr-FR" altLang="zh-CN" dirty="0"/>
              <a:t> formule mes questions de recherches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j’examine d’abord +RQ1 ; ensuite entre les signaux textuels et visuels + RQ2 ; enfin, si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noProof="0" dirty="0"/>
              <a:t>Dans mes hypothèses, je prévois que les hôtes cherchent à intensifier les tactiques dans un contexte plus compétitif, les ajustements se convergent sur les différentes dimensions, mais diffèrent selon le profil de l’hôte</a:t>
            </a:r>
          </a:p>
          <a:p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====================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vise à analyser les ajustements généraux, les mécanismes sous-jacents et l’hétérogénéité de la présentation de soi des hôtes.</a:t>
            </a:r>
          </a:p>
          <a:p>
            <a:endParaRPr lang="en-US" altLang="zh-CN" b="1" dirty="0"/>
          </a:p>
          <a:p>
            <a:r>
              <a:rPr lang="en-US" altLang="zh-CN" b="1" dirty="0"/>
              <a:t>3</a:t>
            </a:r>
            <a:r>
              <a:rPr lang="zh-CN" altLang="en-US" b="1" dirty="0"/>
              <a:t>个标准</a:t>
            </a:r>
            <a:r>
              <a:rPr lang="en-US" altLang="zh-CN" b="1" dirty="0"/>
              <a:t>RQ</a:t>
            </a:r>
            <a:r>
              <a:rPr lang="zh-CN" altLang="en-US" b="1" dirty="0"/>
              <a:t>结构</a:t>
            </a:r>
          </a:p>
          <a:p>
            <a:r>
              <a:rPr lang="zh-CN" altLang="en-US" dirty="0"/>
              <a:t>主效应（</a:t>
            </a:r>
            <a:r>
              <a:rPr lang="en-US" altLang="zh-CN" dirty="0" err="1"/>
              <a:t>ajustement</a:t>
            </a:r>
            <a:r>
              <a:rPr lang="zh-CN" altLang="en-US" dirty="0"/>
              <a:t>） </a:t>
            </a:r>
          </a:p>
          <a:p>
            <a:r>
              <a:rPr lang="zh-CN" altLang="en-US" dirty="0"/>
              <a:t>机制（</a:t>
            </a:r>
            <a:r>
              <a:rPr lang="en-US" altLang="zh-CN" dirty="0"/>
              <a:t>text vs </a:t>
            </a:r>
            <a:r>
              <a:rPr lang="en-US" altLang="zh-CN" dirty="0" err="1"/>
              <a:t>visuel</a:t>
            </a:r>
            <a:r>
              <a:rPr lang="zh-CN" altLang="en-US" dirty="0"/>
              <a:t>） </a:t>
            </a:r>
          </a:p>
          <a:p>
            <a:r>
              <a:rPr lang="zh-CN" altLang="en-US" dirty="0"/>
              <a:t>异质性（</a:t>
            </a:r>
            <a:r>
              <a:rPr lang="en-US" altLang="zh-CN" dirty="0"/>
              <a:t>nouveaux vs </a:t>
            </a:r>
            <a:r>
              <a:rPr lang="en-US" altLang="zh-CN" dirty="0" err="1"/>
              <a:t>existants</a:t>
            </a:r>
            <a:r>
              <a:rPr lang="zh-CN" altLang="en-US" dirty="0"/>
              <a:t>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what / how / for whom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06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00307-E8DC-E941-76F4-7EA1F722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53C8E5-AE6C-8B78-DB56-A60246F1A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6DF1D2-B2E5-9225-36A2-246A9B1C5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Pou</a:t>
            </a:r>
            <a:r>
              <a:rPr lang="fr-FR" altLang="zh-CN" dirty="0"/>
              <a:t>r répondre à ces questions, j’ai </a:t>
            </a:r>
            <a:r>
              <a:rPr lang="en-US" altLang="zh-CN" dirty="0"/>
              <a:t>cons</a:t>
            </a:r>
            <a:r>
              <a:rPr lang="fr-FR" altLang="zh-CN" dirty="0" err="1"/>
              <a:t>titué</a:t>
            </a:r>
            <a:r>
              <a:rPr lang="fr-FR" altLang="zh-CN" dirty="0"/>
              <a:t> un jeu de données de plus de 266 milles annonces Airbnb, collectées à Paris et à Londres, à partir du site </a:t>
            </a:r>
            <a:r>
              <a:rPr lang="fr-FR" altLang="zh-CN" dirty="0" err="1"/>
              <a:t>inside</a:t>
            </a:r>
            <a:r>
              <a:rPr lang="fr-FR" altLang="zh-CN" dirty="0"/>
              <a:t> </a:t>
            </a:r>
            <a:r>
              <a:rPr lang="fr-FR" altLang="zh-CN" dirty="0" err="1"/>
              <a:t>airbnb</a:t>
            </a:r>
            <a:r>
              <a:rPr lang="fr-FR" altLang="zh-CN" dirty="0"/>
              <a:t>.</a:t>
            </a:r>
          </a:p>
          <a:p>
            <a:endParaRPr lang="fr-FR" altLang="zh-CN" dirty="0"/>
          </a:p>
          <a:p>
            <a:r>
              <a:rPr lang="fr-FR" altLang="zh-CN" dirty="0"/>
              <a:t>Les données couvrent les 3 périodes entre juin 2023 et juin 2024, qui permet de 1) comparer les évolutions avant et après le choc et 2) de contrôler les effets saisonniers.</a:t>
            </a:r>
          </a:p>
          <a:p>
            <a:r>
              <a:rPr lang="fr-FR" altLang="zh-CN" dirty="0"/>
              <a:t> </a:t>
            </a:r>
          </a:p>
          <a:p>
            <a:r>
              <a:rPr lang="fr-FR" altLang="zh-CN" dirty="0"/>
              <a:t>Je m’intéresse à deux dimensions complémentaires : la description personnelle et la photo de profil.</a:t>
            </a:r>
          </a:p>
          <a:p>
            <a:endParaRPr lang="fr-FR" altLang="zh-CN" dirty="0"/>
          </a:p>
          <a:p>
            <a:r>
              <a:rPr lang="fr-FR" altLang="zh-CN" dirty="0"/>
              <a:t>Il convient de noter qu’une moitié des bio sont vides, </a:t>
            </a:r>
            <a:r>
              <a:rPr lang="en-US" altLang="zh-CN" dirty="0" err="1"/>
              <a:t>en</a:t>
            </a:r>
            <a:r>
              <a:rPr lang="fr-FR" altLang="zh-CN" dirty="0" err="1"/>
              <a:t>viron</a:t>
            </a:r>
            <a:r>
              <a:rPr lang="fr-FR" altLang="zh-CN" dirty="0"/>
              <a:t> 36% sont en anglais, et 12% en </a:t>
            </a:r>
            <a:r>
              <a:rPr lang="fr-FR" altLang="zh-CN" dirty="0" err="1"/>
              <a:t>fr.</a:t>
            </a:r>
            <a:endParaRPr lang="fr-FR" altLang="zh-CN" dirty="0"/>
          </a:p>
          <a:p>
            <a:r>
              <a:rPr lang="fr-FR" altLang="zh-CN" dirty="0"/>
              <a:t>En revanche, la majorité des hôtes disposent d’une photo de profil.</a:t>
            </a:r>
          </a:p>
          <a:p>
            <a:endParaRPr lang="fr-FR" altLang="zh-CN" dirty="0"/>
          </a:p>
          <a:p>
            <a:endParaRPr lang="fr-FR" altLang="zh-CN" dirty="0"/>
          </a:p>
          <a:p>
            <a:r>
              <a:rPr lang="fr-FR" altLang="zh-CN" dirty="0"/>
              <a:t>-----------------------------------------------------------</a:t>
            </a:r>
          </a:p>
          <a:p>
            <a:r>
              <a:rPr lang="fr-FR" altLang="zh-CN" noProof="0" dirty="0"/>
              <a:t>Dans un contexte de// face à une // en réponse aux </a:t>
            </a:r>
          </a:p>
          <a:p>
            <a:r>
              <a:rPr lang="en-US" altLang="zh-CN" dirty="0"/>
              <a:t>concurrence</a:t>
            </a:r>
            <a:r>
              <a:rPr lang="fr-FR" altLang="zh-CN" dirty="0"/>
              <a:t> accrue // plus forte // plus intensifiée 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90BC70-A663-234D-B49F-D0E88A7EE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21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altLang="zh-CN" dirty="0"/>
          </a:p>
          <a:p>
            <a:r>
              <a:rPr lang="zh-CN" altLang="zh-CN" b="1" dirty="0"/>
              <a:t>Avec ces données, </a:t>
            </a:r>
            <a:r>
              <a:rPr lang="fr-FR" altLang="zh-CN" dirty="0"/>
              <a:t>on peut </a:t>
            </a:r>
            <a:r>
              <a:rPr lang="zh-CN" altLang="zh-CN" dirty="0"/>
              <a:t>observer plusieurs transformations du marché Airbnb à l’approche des </a:t>
            </a:r>
            <a:r>
              <a:rPr lang="fr-FR" altLang="zh-CN" dirty="0"/>
              <a:t>JO</a:t>
            </a:r>
            <a:r>
              <a:rPr lang="zh-CN" altLang="zh-CN" dirty="0"/>
              <a:t>.</a:t>
            </a:r>
            <a:endParaRPr lang="fr-FR" altLang="zh-CN" dirty="0"/>
          </a:p>
          <a:p>
            <a:endParaRPr lang="fr-FR" altLang="zh-CN" dirty="0"/>
          </a:p>
          <a:p>
            <a:r>
              <a:rPr lang="fr-FR" altLang="zh-CN" dirty="0"/>
              <a:t>Du côté de l’offre, </a:t>
            </a:r>
            <a:r>
              <a:rPr lang="fr-FR" altLang="zh-CN" b="1" dirty="0"/>
              <a:t>le nombre d’annonces et d’hôtes</a:t>
            </a:r>
            <a:r>
              <a:rPr lang="fr-FR" altLang="zh-CN" dirty="0"/>
              <a:t> a fortement augmenté en juin 2024, en comparaison avec les périodes avant le choc. </a:t>
            </a:r>
          </a:p>
          <a:p>
            <a:r>
              <a:rPr lang="fr-FR" altLang="zh-CN" dirty="0"/>
              <a:t>surtout, le nombre d’hôtes, qui a presque multiplié par deux.</a:t>
            </a:r>
          </a:p>
          <a:p>
            <a:endParaRPr lang="fr-FR" altLang="zh-CN" dirty="0"/>
          </a:p>
          <a:p>
            <a:r>
              <a:rPr lang="fr-FR" altLang="zh-CN" dirty="0"/>
              <a:t>Ensuite, du côté de la demande, j’ai calculé l’augmentation du nombre d’avis accumulés pendant le trimestre suivant.</a:t>
            </a:r>
          </a:p>
          <a:p>
            <a:r>
              <a:rPr lang="fr-FR" altLang="zh-CN" dirty="0"/>
              <a:t>J’ai observé une hausse (de plus de 15 000) de réservation à paris en juin 2024 par rapport à juin 2023.</a:t>
            </a:r>
          </a:p>
          <a:p>
            <a:r>
              <a:rPr lang="fr-FR" altLang="zh-CN" dirty="0"/>
              <a:t>L’augmentation est bcp plus faible à Londres entre ces deux périodes.</a:t>
            </a:r>
          </a:p>
          <a:p>
            <a:endParaRPr lang="fr-FR" altLang="zh-CN" dirty="0"/>
          </a:p>
          <a:p>
            <a:r>
              <a:rPr lang="fr-FR" altLang="zh-CN" dirty="0"/>
              <a:t>Cependant, les réservations moyennes par annonce ne rebondissent pas à paris comme à Londres, ce qui suggère une concurrence plus forte entre les hôtes p</a:t>
            </a:r>
            <a:r>
              <a:rPr lang="en-US" altLang="zh-CN" dirty="0" err="1"/>
              <a:t>endant</a:t>
            </a:r>
            <a:r>
              <a:rPr lang="fr-FR" altLang="zh-CN" dirty="0"/>
              <a:t> les </a:t>
            </a:r>
            <a:r>
              <a:rPr lang="fr-FR" altLang="zh-CN" dirty="0" err="1"/>
              <a:t>jo</a:t>
            </a:r>
            <a:r>
              <a:rPr lang="fr-FR" altLang="zh-CN" dirty="0"/>
              <a:t>.  </a:t>
            </a:r>
          </a:p>
          <a:p>
            <a:endParaRPr lang="fr-FR" altLang="zh-CN" dirty="0"/>
          </a:p>
          <a:p>
            <a:r>
              <a:rPr lang="fr-FR" altLang="zh-CN" dirty="0"/>
              <a:t>Face à ces changements du contexte, les hôtes sont incités à ajuster leur </a:t>
            </a:r>
            <a:r>
              <a:rPr lang="fr-FR" altLang="zh-CN" dirty="0" err="1"/>
              <a:t>sp</a:t>
            </a:r>
            <a:r>
              <a:rPr lang="fr-FR" altLang="zh-CN" dirty="0"/>
              <a:t> pour attirer les  voyageurs potentiels.</a:t>
            </a:r>
          </a:p>
          <a:p>
            <a:endParaRPr lang="fr-FR" altLang="zh-CN" dirty="0"/>
          </a:p>
          <a:p>
            <a:endParaRPr lang="fr-FR" altLang="zh-CN" dirty="0"/>
          </a:p>
          <a:p>
            <a:r>
              <a:rPr lang="fr-FR" altLang="zh-CN" dirty="0"/>
              <a:t>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 CONTEXT VALIDATION : </a:t>
            </a:r>
            <a:r>
              <a:rPr lang="zh-CN" altLang="zh-CN" dirty="0"/>
              <a:t>les Jeux Olympiques ont profondément modifié l’environnement du marché Airbnb parisien</a:t>
            </a:r>
            <a:endParaRPr lang="fr-FR" altLang="zh-CN" dirty="0"/>
          </a:p>
          <a:p>
            <a:endParaRPr lang="fr-FR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479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J’examine d’abord la dimension textuelle de </a:t>
            </a:r>
            <a:r>
              <a:rPr lang="fr-FR" altLang="zh-CN" dirty="0" err="1"/>
              <a:t>sp</a:t>
            </a:r>
            <a:r>
              <a:rPr lang="fr-FR" altLang="zh-CN" dirty="0"/>
              <a:t> des hôtes:</a:t>
            </a:r>
          </a:p>
          <a:p>
            <a:endParaRPr lang="fr-FR" altLang="zh-CN" dirty="0"/>
          </a:p>
          <a:p>
            <a:r>
              <a:rPr lang="zh-CN" altLang="zh-CN" dirty="0"/>
              <a:t>À partir de la littérature et d’une </a:t>
            </a:r>
            <a:r>
              <a:rPr lang="fr-FR" altLang="zh-CN" dirty="0"/>
              <a:t>analyse qualitative</a:t>
            </a:r>
            <a:r>
              <a:rPr lang="zh-CN" altLang="zh-CN" dirty="0"/>
              <a:t>, j’ai </a:t>
            </a:r>
            <a:r>
              <a:rPr lang="zh-CN" altLang="zh-CN" b="1" dirty="0"/>
              <a:t>identifié </a:t>
            </a:r>
            <a:r>
              <a:rPr lang="zh-CN" altLang="zh-CN" dirty="0"/>
              <a:t>cinq tactiques </a:t>
            </a:r>
            <a:r>
              <a:rPr lang="fr-FR" altLang="zh-CN" dirty="0"/>
              <a:t>courantes</a:t>
            </a:r>
            <a:r>
              <a:rPr lang="zh-CN" altLang="zh-CN" dirty="0"/>
              <a:t> </a:t>
            </a:r>
            <a:r>
              <a:rPr lang="fr-FR" altLang="zh-CN" dirty="0"/>
              <a:t>dans les descriptions personnelles</a:t>
            </a:r>
            <a:r>
              <a:rPr lang="zh-CN" altLang="zh-CN" dirty="0"/>
              <a:t> :</a:t>
            </a:r>
            <a:endParaRPr lang="fr-FR" altLang="zh-CN" dirty="0"/>
          </a:p>
          <a:p>
            <a:r>
              <a:rPr lang="zh-CN" altLang="zh-CN" dirty="0"/>
              <a:t>l’ouverture, l’authenticité, la sociabilité, l’auto-promotion et l’exemplarité.</a:t>
            </a:r>
            <a:endParaRPr lang="fr-FR" altLang="zh-CN" dirty="0"/>
          </a:p>
          <a:p>
            <a:endParaRPr lang="fr-FR" altLang="zh-CN" dirty="0"/>
          </a:p>
          <a:p>
            <a:r>
              <a:rPr lang="fr-FR" altLang="zh-CN" dirty="0"/>
              <a:t>C</a:t>
            </a:r>
            <a:r>
              <a:rPr lang="zh-CN" altLang="zh-CN" dirty="0"/>
              <a:t>es tactiques </a:t>
            </a:r>
            <a:r>
              <a:rPr lang="fr-FR" altLang="zh-CN" dirty="0"/>
              <a:t>sont des </a:t>
            </a:r>
            <a:r>
              <a:rPr lang="zh-CN" altLang="zh-CN" dirty="0"/>
              <a:t>concepts</a:t>
            </a:r>
            <a:r>
              <a:rPr lang="en-US" altLang="zh-CN" dirty="0"/>
              <a:t> </a:t>
            </a:r>
            <a:r>
              <a:rPr lang="fr-FR" altLang="zh-CN" dirty="0"/>
              <a:t>abstraits </a:t>
            </a:r>
            <a:r>
              <a:rPr lang="zh-CN" altLang="zh-CN" dirty="0"/>
              <a:t>qui ne peuvent pas être observés directement</a:t>
            </a:r>
            <a:r>
              <a:rPr lang="fr-FR" altLang="zh-CN" dirty="0"/>
              <a:t>, </a:t>
            </a:r>
          </a:p>
          <a:p>
            <a:r>
              <a:rPr lang="fr-FR" altLang="zh-CN" dirty="0"/>
              <a:t>ainsi, </a:t>
            </a:r>
            <a:r>
              <a:rPr lang="zh-CN" altLang="zh-CN" dirty="0"/>
              <a:t>j’ai </a:t>
            </a:r>
            <a:r>
              <a:rPr lang="fr-FR" altLang="zh-CN" dirty="0"/>
              <a:t>conçu</a:t>
            </a:r>
            <a:r>
              <a:rPr lang="zh-CN" altLang="zh-CN" dirty="0"/>
              <a:t> plusieurs items descriptifs pour chaque tactique.</a:t>
            </a:r>
            <a:endParaRPr lang="fr-FR" altLang="zh-CN" dirty="0"/>
          </a:p>
          <a:p>
            <a:endParaRPr lang="fr-FR" altLang="zh-CN" dirty="0"/>
          </a:p>
          <a:p>
            <a:r>
              <a:rPr lang="fr-FR" altLang="zh-CN" dirty="0"/>
              <a:t>Et appliqué </a:t>
            </a:r>
            <a:r>
              <a:rPr lang="zh-CN" altLang="zh-CN" dirty="0"/>
              <a:t>un modèle</a:t>
            </a:r>
            <a:r>
              <a:rPr lang="fr-FR" altLang="zh-CN" dirty="0"/>
              <a:t> </a:t>
            </a:r>
            <a:r>
              <a:rPr lang="zh-CN" altLang="zh-CN" dirty="0"/>
              <a:t>de classification zéro-shot </a:t>
            </a:r>
            <a:r>
              <a:rPr lang="fr-FR" altLang="zh-CN" dirty="0"/>
              <a:t>multilingue </a:t>
            </a:r>
            <a:r>
              <a:rPr lang="en-US" altLang="zh-CN" dirty="0"/>
              <a:t>pour</a:t>
            </a:r>
            <a:r>
              <a:rPr lang="zh-CN" altLang="en-US" dirty="0"/>
              <a:t> </a:t>
            </a:r>
            <a:r>
              <a:rPr lang="fr-FR" altLang="zh-CN" b="1" dirty="0"/>
              <a:t>é</a:t>
            </a:r>
            <a:r>
              <a:rPr lang="zh-CN" altLang="zh-CN" b="1" dirty="0"/>
              <a:t>valuer</a:t>
            </a:r>
            <a:r>
              <a:rPr lang="zh-CN" altLang="zh-CN" dirty="0"/>
              <a:t> dans quelle mesure ces items</a:t>
            </a:r>
            <a:r>
              <a:rPr lang="fr-FR" altLang="zh-CN" dirty="0"/>
              <a:t> descriptifs</a:t>
            </a:r>
            <a:r>
              <a:rPr lang="zh-CN" altLang="zh-CN" dirty="0"/>
              <a:t> sont présents dans les </a:t>
            </a:r>
            <a:r>
              <a:rPr lang="fr-FR" altLang="zh-CN" dirty="0"/>
              <a:t>textes</a:t>
            </a:r>
            <a:r>
              <a:rPr lang="zh-CN" altLang="zh-CN" dirty="0"/>
              <a:t> des hôtes.</a:t>
            </a:r>
            <a:endParaRPr lang="fr-FR" altLang="zh-CN" dirty="0"/>
          </a:p>
          <a:p>
            <a:endParaRPr lang="fr-FR" altLang="zh-CN" dirty="0"/>
          </a:p>
          <a:p>
            <a:r>
              <a:rPr lang="zh-CN" altLang="zh-CN" dirty="0"/>
              <a:t>Enfin, </a:t>
            </a:r>
            <a:r>
              <a:rPr lang="fr-FR" altLang="zh-CN" dirty="0"/>
              <a:t>j’ai mobilisé l’analyse factorielle et d’autres indicateurs pour vérifier ces items.</a:t>
            </a:r>
          </a:p>
          <a:p>
            <a:r>
              <a:rPr lang="fr-FR" altLang="zh-CN" b="0" dirty="0"/>
              <a:t>Après plusieurs itérations, seuls les </a:t>
            </a:r>
            <a:r>
              <a:rPr lang="zh-CN" altLang="zh-CN" b="0" dirty="0"/>
              <a:t>items les plus représentatifs</a:t>
            </a:r>
            <a:r>
              <a:rPr lang="fr-FR" altLang="zh-CN" b="0" dirty="0"/>
              <a:t> et distinctifs sont conservés, et constituent </a:t>
            </a:r>
            <a:r>
              <a:rPr lang="fr-FR" altLang="zh-CN" dirty="0"/>
              <a:t>une échelle de mesure fiable et applicable à l’ensemble des données.</a:t>
            </a:r>
            <a:endParaRPr lang="en-US" altLang="zh-CN" dirty="0"/>
          </a:p>
          <a:p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Items redondants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970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Je vais maintenant présenter les résultats de la validation.</a:t>
            </a:r>
          </a:p>
          <a:p>
            <a:endParaRPr lang="fr-FR" altLang="zh-CN" dirty="0"/>
          </a:p>
          <a:p>
            <a:r>
              <a:rPr lang="fr-FR" altLang="zh-CN" dirty="0"/>
              <a:t>J’ai obtenu une mesure de 22 items pour les 5 tactiques textuelles.</a:t>
            </a:r>
          </a:p>
          <a:p>
            <a:endParaRPr lang="fr-FR" altLang="zh-CN" dirty="0"/>
          </a:p>
          <a:p>
            <a:r>
              <a:rPr lang="fr-FR" altLang="zh-CN" dirty="0"/>
              <a:t>(Selon l’analyse factorielle,) les charges factorielles sont </a:t>
            </a:r>
            <a:r>
              <a:rPr lang="fr-FR" altLang="zh-CN" b="1" dirty="0"/>
              <a:t>globalement </a:t>
            </a:r>
            <a:r>
              <a:rPr lang="fr-FR" altLang="zh-CN" b="1" dirty="0" err="1"/>
              <a:t>sat</a:t>
            </a:r>
            <a:r>
              <a:rPr lang="zh-CN" altLang="zh-CN" b="1" dirty="0"/>
              <a:t>isfaisantes </a:t>
            </a:r>
            <a:r>
              <a:rPr lang="fr-FR" altLang="zh-CN" b="1" dirty="0"/>
              <a:t>(supérieur à 0.5) </a:t>
            </a:r>
            <a:r>
              <a:rPr lang="zh-CN" altLang="zh-CN" b="1" dirty="0"/>
              <a:t>et les cross-loadings restent faibles. </a:t>
            </a:r>
            <a:endParaRPr lang="en-US" altLang="zh-CN" b="1" dirty="0"/>
          </a:p>
          <a:p>
            <a:r>
              <a:rPr lang="fr-FR" altLang="zh-CN" b="1" dirty="0"/>
              <a:t>Cad un item ne corrèle pas avec plusieurs facteurs en </a:t>
            </a:r>
            <a:r>
              <a:rPr lang="fr-FR" altLang="zh-CN" b="1" dirty="0" err="1"/>
              <a:t>meme</a:t>
            </a:r>
            <a:r>
              <a:rPr lang="fr-FR" altLang="zh-CN" b="1" dirty="0"/>
              <a:t> temps.</a:t>
            </a:r>
          </a:p>
          <a:p>
            <a:endParaRPr lang="fr-FR" altLang="zh-CN" b="1" dirty="0"/>
          </a:p>
          <a:p>
            <a:r>
              <a:rPr lang="fr-FR" altLang="zh-CN" dirty="0"/>
              <a:t>On peut dire que l</a:t>
            </a:r>
            <a:r>
              <a:rPr lang="zh-CN" altLang="zh-CN" dirty="0"/>
              <a:t>es items représentent donc bien les tactiques qu’ils sont censés mesurer.</a:t>
            </a: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/>
              <a:t>les communalités sont majoritairement supérieures à 0,5, ce qui indique qu’</a:t>
            </a:r>
            <a:r>
              <a:rPr lang="zh-CN" altLang="zh-CN" b="1" dirty="0"/>
              <a:t>une part importante de la variance </a:t>
            </a:r>
            <a:r>
              <a:rPr lang="zh-CN" altLang="zh-CN" dirty="0"/>
              <a:t>de chaque item est expliquée par les facteurs.</a:t>
            </a:r>
          </a:p>
          <a:p>
            <a:endParaRPr lang="fr-FR" altLang="zh-CN" dirty="0"/>
          </a:p>
          <a:p>
            <a:r>
              <a:rPr lang="fr-FR" altLang="zh-CN" dirty="0"/>
              <a:t>Enfin, </a:t>
            </a:r>
            <a:r>
              <a:rPr lang="fr-FR" altLang="zh-CN" dirty="0" err="1"/>
              <a:t>cronbach’s</a:t>
            </a:r>
            <a:r>
              <a:rPr lang="fr-FR" altLang="zh-CN" dirty="0"/>
              <a:t> alpha varie entre 0,84 et 0, 92, montre </a:t>
            </a:r>
            <a:r>
              <a:rPr lang="fr-FR" altLang="zh-CN" b="1" dirty="0"/>
              <a:t>une bonne cohérence interne </a:t>
            </a:r>
            <a:r>
              <a:rPr lang="fr-FR" altLang="zh-CN" dirty="0"/>
              <a:t>des items au sein d’une tactique.</a:t>
            </a:r>
          </a:p>
          <a:p>
            <a:endParaRPr lang="fr-FR" altLang="zh-CN" dirty="0"/>
          </a:p>
          <a:p>
            <a:endParaRPr lang="fr-FR" altLang="zh-CN" dirty="0"/>
          </a:p>
          <a:p>
            <a:r>
              <a:rPr lang="zh-CN" altLang="zh-CN" dirty="0"/>
              <a:t>Dans l’ensemble, ces résultats confirment </a:t>
            </a:r>
            <a:r>
              <a:rPr lang="zh-CN" altLang="zh-CN" b="1" dirty="0"/>
              <a:t>la validité et la fiabilité </a:t>
            </a:r>
            <a:r>
              <a:rPr lang="zh-CN" altLang="zh-CN" dirty="0"/>
              <a:t>de l’échelle</a:t>
            </a:r>
            <a:r>
              <a:rPr lang="fr-FR" altLang="zh-CN" dirty="0"/>
              <a:t> de mesure.</a:t>
            </a:r>
          </a:p>
          <a:p>
            <a:r>
              <a:rPr lang="fr-FR" altLang="zh-CN" dirty="0"/>
              <a:t>À l’aide de fa, j’obtiens un score pondéré </a:t>
            </a:r>
            <a:r>
              <a:rPr lang="en-US" altLang="zh-CN" dirty="0"/>
              <a:t>pour</a:t>
            </a:r>
            <a:r>
              <a:rPr lang="fr-FR" altLang="zh-CN" dirty="0"/>
              <a:t> chaque tactique.</a:t>
            </a:r>
          </a:p>
          <a:p>
            <a:r>
              <a:rPr lang="fr-FR" altLang="zh-CN" dirty="0"/>
              <a:t>Lorsque la bio est absente, les scores sont fixés à 0 et un indicateur binaire (</a:t>
            </a:r>
            <a:r>
              <a:rPr lang="fr-FR" altLang="zh-CN" dirty="0" err="1"/>
              <a:t>has_text</a:t>
            </a:r>
            <a:r>
              <a:rPr lang="fr-FR" altLang="zh-CN" dirty="0"/>
              <a:t>) est ajouté.</a:t>
            </a:r>
          </a:p>
          <a:p>
            <a:endParaRPr lang="fr-FR" altLang="zh-CN" dirty="0"/>
          </a:p>
          <a:p>
            <a:r>
              <a:rPr lang="fr-FR" altLang="zh-CN" dirty="0"/>
              <a:t>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197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Pour la dimension visuelle, j’ai distingué 3 catégories à partir d’une observation exploratoire.</a:t>
            </a:r>
          </a:p>
          <a:p>
            <a:endParaRPr lang="fr-FR" altLang="zh-CN" dirty="0"/>
          </a:p>
          <a:p>
            <a:r>
              <a:rPr lang="fr-FR" altLang="zh-CN" b="1" dirty="0"/>
              <a:t>Def:</a:t>
            </a:r>
          </a:p>
          <a:p>
            <a:r>
              <a:rPr lang="fr-FR" altLang="zh-CN" dirty="0"/>
              <a:t>le portrait, centré sur l’identification de l’hôte, avec un arrière-plan </a:t>
            </a:r>
            <a:r>
              <a:rPr lang="fr-FR" altLang="zh-CN"/>
              <a:t>peu informatif, </a:t>
            </a:r>
            <a:r>
              <a:rPr lang="fr-FR" altLang="zh-CN" dirty="0"/>
              <a:t>tandis que la photo de vie, qui situe l’hôte dans un environnement quotidien, un contexte social ou une activité.</a:t>
            </a:r>
          </a:p>
          <a:p>
            <a:r>
              <a:rPr lang="fr-FR" altLang="zh-CN" dirty="0"/>
              <a:t>Et les photos sans personne correspondant généralement à des logos, des paysages, ou d’autres objets inanimés.</a:t>
            </a:r>
          </a:p>
          <a:p>
            <a:endParaRPr lang="fr-FR" altLang="zh-CN" dirty="0"/>
          </a:p>
          <a:p>
            <a:r>
              <a:rPr lang="fr-FR" altLang="zh-CN" b="1" dirty="0"/>
              <a:t>Pipeline: </a:t>
            </a:r>
          </a:p>
          <a:p>
            <a:r>
              <a:rPr lang="en-US" altLang="zh-CN" b="1" dirty="0"/>
              <a:t>Pour</a:t>
            </a:r>
            <a:r>
              <a:rPr lang="fr-FR" altLang="zh-CN" b="1" dirty="0"/>
              <a:t> réaliser cette classification, </a:t>
            </a:r>
          </a:p>
          <a:p>
            <a:r>
              <a:rPr lang="fr-FR" altLang="zh-CN" dirty="0"/>
              <a:t>j’utilise </a:t>
            </a:r>
            <a:r>
              <a:rPr lang="zh-CN" altLang="zh-CN" dirty="0"/>
              <a:t>un modèle de détection faciale </a:t>
            </a:r>
            <a:r>
              <a:rPr lang="en-US" altLang="zh-CN" dirty="0"/>
              <a:t>pour</a:t>
            </a:r>
            <a:r>
              <a:rPr lang="fr-FR" altLang="zh-CN" dirty="0"/>
              <a:t> identifie la présence du visage. S’il n’y a pas de visages, la photo est classée dans la catégorie ‘’sans personne’.</a:t>
            </a:r>
          </a:p>
          <a:p>
            <a:endParaRPr lang="fr-FR" altLang="zh-CN" dirty="0"/>
          </a:p>
          <a:p>
            <a:r>
              <a:rPr lang="fr-FR" altLang="zh-CN" dirty="0"/>
              <a:t>Si oui, CLIP, (un modèle qui projette les images et les textes dans un espace d’</a:t>
            </a:r>
            <a:r>
              <a:rPr lang="fr-FR" altLang="zh-CN" dirty="0" err="1"/>
              <a:t>embeddings</a:t>
            </a:r>
            <a:r>
              <a:rPr lang="fr-FR" altLang="zh-CN" dirty="0"/>
              <a:t> communs),  </a:t>
            </a:r>
          </a:p>
          <a:p>
            <a:r>
              <a:rPr lang="fr-FR" altLang="zh-CN" dirty="0"/>
              <a:t>Va compare la photo à deux ensembles de descriptions textuelles. La photo est ensuite attribuée à la catégorie pour laquelle la similarité moyenne est la plus élevée.</a:t>
            </a:r>
          </a:p>
          <a:p>
            <a:endParaRPr lang="fr-FR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902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Apres les traitements textuels et visuel, </a:t>
            </a:r>
          </a:p>
          <a:p>
            <a:r>
              <a:rPr lang="fr-FR" altLang="zh-CN" dirty="0"/>
              <a:t>Je mène des analyses descriptives sur les tactiques, il existe des modes de présentation de soi distincts.</a:t>
            </a:r>
          </a:p>
          <a:p>
            <a:endParaRPr lang="fr-FR" altLang="zh-CN" dirty="0"/>
          </a:p>
          <a:p>
            <a:r>
              <a:rPr lang="fr-FR" altLang="zh-CN" dirty="0"/>
              <a:t>Sur le plan textuel, les tactiques relationnelles (ouverture, authenticité, sociabilité) sont moins fréquentes alors que les tactiques promotionnelles sont plus utilisées , surtout l’auto-promotion à Londres.</a:t>
            </a:r>
          </a:p>
          <a:p>
            <a:endParaRPr lang="fr-FR" altLang="zh-CN" dirty="0"/>
          </a:p>
          <a:p>
            <a:r>
              <a:rPr lang="fr-FR" altLang="zh-CN" dirty="0"/>
              <a:t>Sur le plan visuel, les 3 </a:t>
            </a:r>
            <a:r>
              <a:rPr lang="fr-FR" altLang="zh-CN" dirty="0" err="1"/>
              <a:t>ctgs</a:t>
            </a:r>
            <a:r>
              <a:rPr lang="fr-FR" altLang="zh-CN" dirty="0"/>
              <a:t> sont globalement équilibrées, avec une légère </a:t>
            </a:r>
            <a:r>
              <a:rPr lang="en-US" altLang="zh-CN" dirty="0"/>
              <a:t>sur</a:t>
            </a:r>
            <a:r>
              <a:rPr lang="fr-FR" altLang="zh-CN" dirty="0"/>
              <a:t>représentation des portraits à Paris et </a:t>
            </a:r>
            <a:r>
              <a:rPr lang="en-US" altLang="zh-CN" dirty="0"/>
              <a:t>des</a:t>
            </a:r>
            <a:r>
              <a:rPr lang="fr-FR" altLang="zh-CN" dirty="0"/>
              <a:t> photos sans personnes à Londres.</a:t>
            </a:r>
          </a:p>
          <a:p>
            <a:endParaRPr lang="fr-FR" altLang="zh-CN" dirty="0"/>
          </a:p>
          <a:p>
            <a:endParaRPr lang="fr-FR" altLang="zh-CN" dirty="0"/>
          </a:p>
          <a:p>
            <a:endParaRPr lang="fr-FR" altLang="zh-CN" dirty="0"/>
          </a:p>
          <a:p>
            <a:endParaRPr lang="fr-FR" altLang="zh-CN" dirty="0"/>
          </a:p>
          <a:p>
            <a:endParaRPr lang="fr-FR" altLang="zh-CN" dirty="0"/>
          </a:p>
          <a:p>
            <a:endParaRPr lang="fr-FR" altLang="zh-CN" dirty="0"/>
          </a:p>
          <a:p>
            <a:endParaRPr lang="fr-FR" altLang="zh-CN" dirty="0"/>
          </a:p>
          <a:p>
            <a:r>
              <a:rPr lang="fr-FR" altLang="zh-CN" dirty="0"/>
              <a:t>--------------------</a:t>
            </a:r>
          </a:p>
          <a:p>
            <a:r>
              <a:rPr lang="fr-FR" altLang="zh-CN" dirty="0"/>
              <a:t>Prédominance des tactiques promotionnelles sur le plan textuel// dans les dimensions textuelles// aux niveaux textuels // en matière de la présentation textuelle</a:t>
            </a:r>
          </a:p>
          <a:p>
            <a:r>
              <a:rPr lang="fr-FR" altLang="zh-CN" dirty="0"/>
              <a:t>Les tac promo sont plus fréquentes </a:t>
            </a:r>
          </a:p>
          <a:p>
            <a:endParaRPr lang="fr-FR" altLang="zh-CN" dirty="0"/>
          </a:p>
          <a:p>
            <a:r>
              <a:rPr lang="fr-FR" altLang="zh-CN" dirty="0"/>
              <a:t>Présente une répartition équilibrée</a:t>
            </a:r>
          </a:p>
          <a:p>
            <a:r>
              <a:rPr lang="fr-FR" altLang="zh-CN" dirty="0"/>
              <a:t> Les </a:t>
            </a:r>
            <a:r>
              <a:rPr lang="fr-FR" altLang="zh-CN" dirty="0" err="1"/>
              <a:t>ctg</a:t>
            </a:r>
            <a:r>
              <a:rPr lang="fr-FR" altLang="zh-CN" dirty="0"/>
              <a:t> sont réparties de manière relativement équilibrée</a:t>
            </a:r>
            <a:r>
              <a:rPr lang="en-US" altLang="zh-CN" dirty="0"/>
              <a:t>// </a:t>
            </a:r>
            <a:r>
              <a:rPr lang="fr-FR" altLang="zh-CN" dirty="0"/>
              <a:t>apparaissent globalement équilibrées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26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Pour identifier les ajustements </a:t>
            </a:r>
            <a:r>
              <a:rPr lang="en-US" altLang="zh-CN" b="0" dirty="0"/>
              <a:t>des </a:t>
            </a:r>
            <a:r>
              <a:rPr lang="en-US" altLang="zh-CN" b="0" dirty="0" err="1"/>
              <a:t>tactiques</a:t>
            </a:r>
            <a:r>
              <a:rPr lang="en-US" altLang="zh-CN" b="0" dirty="0"/>
              <a:t> </a:t>
            </a:r>
            <a:r>
              <a:rPr lang="fr-FR" altLang="zh-CN" b="0" dirty="0"/>
              <a:t>après le choc,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j’ai utilisé une approche (différence en différences), estimé par la régression OLS, pour capturer des écarts entre paris et </a:t>
            </a:r>
            <a:r>
              <a:rPr lang="fr-FR" altLang="zh-CN" b="0" dirty="0" err="1"/>
              <a:t>londre</a:t>
            </a:r>
            <a:r>
              <a:rPr lang="fr-FR" altLang="zh-CN" b="0" dirty="0"/>
              <a:t> au fil du temps.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(comme Paris est le groupe de traitement et Londres est le groupe de contrôle,.)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/>
              <a:t>On observe</a:t>
            </a:r>
            <a:r>
              <a:rPr lang="fr-FR" altLang="zh-CN" b="0" dirty="0"/>
              <a:t> que </a:t>
            </a:r>
            <a:r>
              <a:rPr lang="zh-CN" altLang="zh-CN" b="0" dirty="0"/>
              <a:t>la plupart des tactiques présentent un écart significatif </a:t>
            </a:r>
            <a:r>
              <a:rPr lang="fr-FR" altLang="zh-CN" b="0" dirty="0"/>
              <a:t>après le choc à Paris, </a:t>
            </a:r>
            <a:r>
              <a:rPr lang="zh-CN" altLang="zh-CN" b="0" dirty="0"/>
              <a:t>par rapport à la période de référence (juin 2023.</a:t>
            </a: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Ensuite, je choisis les périodes proches du choc, </a:t>
            </a:r>
            <a:r>
              <a:rPr lang="fr-FR" altLang="zh-CN" dirty="0" err="1"/>
              <a:t>déc</a:t>
            </a:r>
            <a:r>
              <a:rPr lang="fr-FR" altLang="zh-CN" dirty="0"/>
              <a:t> 2023 et juin 2024,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Et je mesure l’effet du choc sur les tactiques comme la variation de ces écarts.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680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b="0" dirty="0"/>
              <a:t>Cette figure résume l</a:t>
            </a:r>
            <a:r>
              <a:rPr lang="fr-FR" altLang="zh-CN" b="0" dirty="0"/>
              <a:t>a variation des écarts </a:t>
            </a:r>
            <a:r>
              <a:rPr lang="zh-CN" altLang="zh-CN" b="0" dirty="0"/>
              <a:t>pour chacune des tactiques.</a:t>
            </a:r>
          </a:p>
          <a:p>
            <a:endParaRPr lang="fr-FR" altLang="zh-CN" b="0" dirty="0"/>
          </a:p>
          <a:p>
            <a:r>
              <a:rPr lang="en-US" altLang="zh-CN" b="0" dirty="0"/>
              <a:t>Po</a:t>
            </a:r>
            <a:r>
              <a:rPr lang="fr-FR" altLang="zh-CN" b="0" dirty="0" err="1"/>
              <a:t>ur</a:t>
            </a:r>
            <a:r>
              <a:rPr lang="fr-FR" altLang="zh-CN" b="0" dirty="0"/>
              <a:t> répondre à la 1</a:t>
            </a:r>
            <a:r>
              <a:rPr lang="fr-FR" altLang="zh-CN" b="0" baseline="30000" dirty="0"/>
              <a:t>er</a:t>
            </a:r>
            <a:r>
              <a:rPr lang="fr-FR" altLang="zh-CN" b="0" dirty="0"/>
              <a:t> RQ, la </a:t>
            </a:r>
            <a:r>
              <a:rPr lang="fr-FR" altLang="zh-CN" b="1" dirty="0"/>
              <a:t>plupart</a:t>
            </a:r>
            <a:r>
              <a:rPr lang="fr-FR" altLang="zh-CN" b="0" dirty="0"/>
              <a:t> des </a:t>
            </a:r>
            <a:r>
              <a:rPr lang="zh-CN" altLang="zh-CN" b="0" dirty="0"/>
              <a:t>tactiques présentent des effets positifs et significatifs, ce qui signifie </a:t>
            </a:r>
            <a:r>
              <a:rPr lang="zh-CN" altLang="zh-CN" b="1" dirty="0"/>
              <a:t>une évolution plus favorable à Paris qu’à Londres après le choc.</a:t>
            </a:r>
            <a:endParaRPr lang="fr-FR" altLang="zh-CN" b="1" dirty="0"/>
          </a:p>
          <a:p>
            <a:endParaRPr lang="fr-FR" altLang="zh-CN" b="0" dirty="0"/>
          </a:p>
          <a:p>
            <a:r>
              <a:rPr lang="fr-FR" altLang="zh-CN" b="0" dirty="0"/>
              <a:t>Il convient de noter qu’un effet positif ne correspondant nécessairement à une intensification des tactiques.</a:t>
            </a:r>
          </a:p>
          <a:p>
            <a:r>
              <a:rPr lang="fr-FR" altLang="zh-CN" b="0" dirty="0"/>
              <a:t>Il peut s’interpréter comme une augmentation plus forte ou une diminution plus limitée à Paris.</a:t>
            </a:r>
          </a:p>
          <a:p>
            <a:endParaRPr lang="fr-FR" altLang="zh-CN" b="0" dirty="0"/>
          </a:p>
          <a:p>
            <a:endParaRPr lang="fr-FR" altLang="zh-CN" b="0" dirty="0"/>
          </a:p>
          <a:p>
            <a:endParaRPr lang="fr-FR" altLang="zh-CN" b="0" dirty="0"/>
          </a:p>
          <a:p>
            <a:endParaRPr lang="fr-FR" altLang="zh-CN" b="0" dirty="0"/>
          </a:p>
          <a:p>
            <a:r>
              <a:rPr lang="fr-FR" altLang="zh-CN" b="0" dirty="0"/>
              <a:t>================================================</a:t>
            </a:r>
          </a:p>
          <a:p>
            <a:r>
              <a:rPr lang="fr-FR" altLang="zh-CN" b="0" dirty="0"/>
              <a:t>pr</a:t>
            </a:r>
            <a:r>
              <a:rPr lang="fr-FR" altLang="zh-CN" dirty="0"/>
              <a:t>ivilégient / mettent en avant davantage / s’orientent davantage vers</a:t>
            </a:r>
          </a:p>
          <a:p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Ps</a:t>
            </a:r>
            <a:r>
              <a:rPr lang="fr-FR" altLang="zh-CN" sz="1200" dirty="0"/>
              <a:t>. Effet positif signifie une augmentation plus forte / diminution plus limitée, pas toujours une intensification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35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F7FA-BB3A-B1C3-2453-33FE2A87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83C51F-B080-4065-B072-BD7764B1A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CE962A-F925-8C7D-8282-9810A50DD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Par ailleurs, l</a:t>
            </a:r>
            <a:r>
              <a:rPr lang="zh-CN" altLang="zh-CN" b="0" dirty="0"/>
              <a:t>es ajustements se </a:t>
            </a:r>
            <a:r>
              <a:rPr lang="zh-CN" altLang="zh-CN" b="1" dirty="0"/>
              <a:t>concentrent</a:t>
            </a:r>
            <a:r>
              <a:rPr lang="zh-CN" altLang="zh-CN" b="0" dirty="0"/>
              <a:t> principalement sur les tactiques promotionnelles et les photos avec présence humaine.</a:t>
            </a:r>
          </a:p>
          <a:p>
            <a:endParaRPr lang="fr-FR" altLang="zh-CN" dirty="0"/>
          </a:p>
          <a:p>
            <a:r>
              <a:rPr lang="fr-FR" altLang="zh-CN" dirty="0"/>
              <a:t>C</a:t>
            </a:r>
            <a:r>
              <a:rPr lang="en-US" altLang="zh-CN" dirty="0"/>
              <a:t>es </a:t>
            </a:r>
            <a:r>
              <a:rPr lang="fr-FR" altLang="zh-CN" dirty="0"/>
              <a:t>éléments sont directement liés à la qualité, au professionnalisme et à la </a:t>
            </a:r>
            <a:r>
              <a:rPr lang="en-US" altLang="zh-CN" dirty="0" err="1"/>
              <a:t>proximité</a:t>
            </a:r>
            <a:r>
              <a:rPr lang="fr-FR" altLang="zh-CN" dirty="0"/>
              <a:t> visuelle.</a:t>
            </a:r>
          </a:p>
          <a:p>
            <a:endParaRPr lang="fr-FR" altLang="zh-CN" dirty="0"/>
          </a:p>
          <a:p>
            <a:r>
              <a:rPr lang="fr-FR" altLang="zh-CN" dirty="0"/>
              <a:t>On suppose que </a:t>
            </a:r>
            <a:r>
              <a:rPr lang="en-US" altLang="zh-CN" dirty="0"/>
              <a:t>s</a:t>
            </a:r>
            <a:r>
              <a:rPr lang="fr-FR" altLang="zh-CN" dirty="0" err="1"/>
              <a:t>ur</a:t>
            </a:r>
            <a:r>
              <a:rPr lang="fr-FR" altLang="zh-CN" dirty="0"/>
              <a:t> le plan textuel visuel, les hôtes privilégient des signaux de confiance rapides et directs, immédiatement interprétable dans un </a:t>
            </a:r>
            <a:r>
              <a:rPr lang="fr-FR" altLang="zh-CN" dirty="0" err="1"/>
              <a:t>co</a:t>
            </a:r>
            <a:r>
              <a:rPr lang="zh-CN" altLang="zh-CN" b="0" dirty="0"/>
              <a:t>ntext</a:t>
            </a:r>
            <a:r>
              <a:rPr lang="fr-FR" altLang="zh-CN" b="0" dirty="0"/>
              <a:t>e plus compétitif</a:t>
            </a:r>
            <a:r>
              <a:rPr lang="zh-CN" altLang="zh-CN" b="0" dirty="0"/>
              <a:t>.</a:t>
            </a:r>
            <a:r>
              <a:rPr lang="fr-FR" altLang="zh-CN" b="0" dirty="0"/>
              <a:t> </a:t>
            </a:r>
          </a:p>
          <a:p>
            <a:endParaRPr lang="fr-FR" altLang="zh-CN" b="1" dirty="0"/>
          </a:p>
          <a:p>
            <a:r>
              <a:rPr lang="zh-CN" altLang="zh-CN" b="0" dirty="0"/>
              <a:t>À l’inverse, l’ouverture </a:t>
            </a:r>
            <a:r>
              <a:rPr lang="fr-FR" altLang="zh-CN" b="0" dirty="0"/>
              <a:t>ne présente pas d’ajustement significatif, </a:t>
            </a:r>
            <a:r>
              <a:rPr lang="zh-CN" altLang="zh-CN" b="0" dirty="0"/>
              <a:t>ce qui suggère que cette tactique</a:t>
            </a:r>
            <a:r>
              <a:rPr lang="fr-FR" altLang="zh-CN" b="0" dirty="0"/>
              <a:t>, liée à l’échange culturel, </a:t>
            </a:r>
            <a:r>
              <a:rPr lang="zh-CN" altLang="zh-CN" b="0" dirty="0"/>
              <a:t> est moins </a:t>
            </a:r>
            <a:r>
              <a:rPr lang="fr-FR" altLang="zh-CN" b="0" dirty="0"/>
              <a:t>pertinent dans ce </a:t>
            </a:r>
            <a:r>
              <a:rPr lang="zh-CN" altLang="zh-CN" b="0" dirty="0"/>
              <a:t>contexte </a:t>
            </a:r>
            <a:r>
              <a:rPr lang="fr-FR" altLang="zh-CN" b="0" dirty="0"/>
              <a:t>i</a:t>
            </a:r>
            <a:r>
              <a:rPr lang="zh-CN" altLang="zh-CN" b="0" dirty="0"/>
              <a:t>nternational</a:t>
            </a:r>
            <a:r>
              <a:rPr lang="fr-FR" altLang="zh-CN" b="0" dirty="0"/>
              <a:t>.</a:t>
            </a:r>
          </a:p>
          <a:p>
            <a:r>
              <a:rPr lang="fr-FR" altLang="zh-CN" b="0" dirty="0"/>
              <a:t>Les voyageurs viennent pour participer aux </a:t>
            </a:r>
            <a:r>
              <a:rPr lang="fr-FR" altLang="zh-CN" b="0" dirty="0" err="1"/>
              <a:t>jo</a:t>
            </a:r>
            <a:r>
              <a:rPr lang="fr-FR" altLang="zh-CN" b="0" dirty="0"/>
              <a:t>, cette forme perd en attractivité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76A8AD-5240-EC11-4D32-30A6BB837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303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b="0" dirty="0"/>
              <a:t>Pour </a:t>
            </a:r>
            <a:r>
              <a:rPr lang="en-US" altLang="zh-CN" b="0" dirty="0"/>
              <a:t>ex</a:t>
            </a:r>
            <a:r>
              <a:rPr lang="fr-FR" altLang="zh-CN" b="0" dirty="0" err="1"/>
              <a:t>aminer</a:t>
            </a:r>
            <a:r>
              <a:rPr lang="fr-FR" altLang="zh-CN" b="0" dirty="0"/>
              <a:t> l’hétérogénéité des ajustements, j’analyse d’abord la composition du marché.</a:t>
            </a:r>
          </a:p>
          <a:p>
            <a:endParaRPr lang="fr-FR" altLang="zh-CN" b="0" dirty="0"/>
          </a:p>
          <a:p>
            <a:r>
              <a:rPr lang="fr-FR" altLang="zh-CN" b="0" dirty="0"/>
              <a:t>J’ai distingué deux type d’hôtes :</a:t>
            </a:r>
          </a:p>
          <a:p>
            <a:r>
              <a:rPr lang="fr-FR" altLang="zh-CN" b="0" dirty="0"/>
              <a:t>si l’identifiant d’un hôte n’apparaît pas dans la période précédente, il est considéré comme nouvel </a:t>
            </a:r>
            <a:r>
              <a:rPr lang="fr-FR" altLang="zh-CN" b="0" dirty="0" err="1"/>
              <a:t>enrtrant</a:t>
            </a:r>
            <a:r>
              <a:rPr lang="fr-FR" altLang="zh-CN" b="0" dirty="0"/>
              <a:t>.</a:t>
            </a:r>
          </a:p>
          <a:p>
            <a:r>
              <a:rPr lang="fr-FR" altLang="zh-CN" b="0" dirty="0"/>
              <a:t>Si non, il est un hôte existant.</a:t>
            </a:r>
          </a:p>
          <a:p>
            <a:endParaRPr lang="fr-FR" altLang="zh-CN" b="0" dirty="0"/>
          </a:p>
          <a:p>
            <a:r>
              <a:rPr lang="zh-CN" altLang="zh-CN" b="0" dirty="0"/>
              <a:t>Avant le choc, les nouveaux </a:t>
            </a:r>
            <a:r>
              <a:rPr lang="fr-FR" altLang="zh-CN" b="0" dirty="0"/>
              <a:t>entrants</a:t>
            </a:r>
            <a:r>
              <a:rPr lang="zh-CN" altLang="zh-CN" b="0" dirty="0"/>
              <a:t> et les nouvelles annonces restent relativement minoritaires dans les deux villes.</a:t>
            </a:r>
          </a:p>
          <a:p>
            <a:r>
              <a:rPr lang="fr-FR" altLang="zh-CN" b="0" dirty="0"/>
              <a:t>(Un quart de nouveaux entrants et un tiers des nouvelles annonces sur le marché.)</a:t>
            </a:r>
          </a:p>
          <a:p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L</a:t>
            </a:r>
            <a:r>
              <a:rPr lang="zh-CN" altLang="zh-CN" b="0" dirty="0"/>
              <a:t>a situation </a:t>
            </a:r>
            <a:r>
              <a:rPr lang="fr-FR" altLang="zh-CN" b="0" dirty="0"/>
              <a:t>reste stable </a:t>
            </a:r>
            <a:r>
              <a:rPr lang="zh-CN" altLang="zh-CN" b="0" dirty="0"/>
              <a:t>à Londres</a:t>
            </a:r>
            <a:r>
              <a:rPr lang="fr-FR" altLang="zh-CN" b="0" dirty="0"/>
              <a:t> en juin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b="0" dirty="0"/>
          </a:p>
          <a:p>
            <a:r>
              <a:rPr lang="fr-FR" altLang="zh-CN" b="0" dirty="0"/>
              <a:t>Néanmoins,  à</a:t>
            </a:r>
            <a:r>
              <a:rPr lang="zh-CN" altLang="zh-CN" b="0" dirty="0"/>
              <a:t> Paris,</a:t>
            </a:r>
            <a:r>
              <a:rPr lang="fr-FR" altLang="zh-CN" b="0" dirty="0"/>
              <a:t> le nombre des </a:t>
            </a:r>
            <a:r>
              <a:rPr lang="zh-CN" altLang="zh-CN" b="0" dirty="0"/>
              <a:t>nouvelles annonces devient presque équivalent </a:t>
            </a:r>
            <a:r>
              <a:rPr lang="fr-FR" altLang="zh-CN" b="0" dirty="0"/>
              <a:t>à celui des </a:t>
            </a:r>
            <a:r>
              <a:rPr lang="zh-CN" altLang="zh-CN" b="0" dirty="0"/>
              <a:t>annonces existantes.</a:t>
            </a: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/>
              <a:t>Et l</a:t>
            </a:r>
            <a:r>
              <a:rPr lang="zh-CN" altLang="zh-CN" b="0" dirty="0"/>
              <a:t>e</a:t>
            </a:r>
            <a:r>
              <a:rPr lang="fr-FR" altLang="zh-CN" b="0" dirty="0"/>
              <a:t>s </a:t>
            </a:r>
            <a:r>
              <a:rPr lang="zh-CN" altLang="zh-CN" b="0" dirty="0"/>
              <a:t>nouveaux hôtes dépasse </a:t>
            </a:r>
            <a:r>
              <a:rPr lang="fr-FR" altLang="zh-CN" b="0" dirty="0"/>
              <a:t>les</a:t>
            </a:r>
            <a:r>
              <a:rPr lang="zh-CN" altLang="zh-CN" b="0" dirty="0"/>
              <a:t> hôtes existants</a:t>
            </a:r>
            <a:r>
              <a:rPr lang="fr-FR" altLang="zh-CN" b="0" dirty="0"/>
              <a:t> en quantité.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/>
              <a:t>Cela </a:t>
            </a:r>
            <a:r>
              <a:rPr lang="en-US" altLang="zh-CN" b="0" dirty="0" err="1"/>
              <a:t>suggère</a:t>
            </a:r>
            <a:r>
              <a:rPr lang="en-US" altLang="zh-CN" b="0" dirty="0"/>
              <a:t> </a:t>
            </a:r>
            <a:r>
              <a:rPr lang="en-US" altLang="zh-CN" b="0" dirty="0" err="1"/>
              <a:t>une</a:t>
            </a:r>
            <a:r>
              <a:rPr lang="en-US" altLang="zh-CN" b="0" dirty="0"/>
              <a:t> </a:t>
            </a:r>
            <a:r>
              <a:rPr lang="en-US" altLang="zh-CN" b="0" dirty="0" err="1"/>
              <a:t>recomposition</a:t>
            </a:r>
            <a:r>
              <a:rPr lang="en-US" altLang="zh-CN" b="0" dirty="0"/>
              <a:t> </a:t>
            </a:r>
            <a:r>
              <a:rPr lang="en-US" altLang="zh-CN" b="0" dirty="0" err="1"/>
              <a:t>majeur</a:t>
            </a:r>
            <a:r>
              <a:rPr lang="en-US" altLang="zh-CN" b="0" dirty="0"/>
              <a:t> du </a:t>
            </a:r>
            <a:r>
              <a:rPr lang="en-US" altLang="zh-CN" b="0" dirty="0" err="1"/>
              <a:t>marché</a:t>
            </a:r>
            <a:r>
              <a:rPr lang="en-US" altLang="zh-CN" b="0" dirty="0"/>
              <a:t> Airbnb.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584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Pou</a:t>
            </a:r>
            <a:r>
              <a:rPr lang="fr-FR" altLang="zh-CN" dirty="0"/>
              <a:t>r mieux comprendre leurs caractéristiques des diff type d’ hôtes, j’ai fait une comparaison sur leur stratégie de présentation de soi.</a:t>
            </a:r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Au </a:t>
            </a:r>
            <a:r>
              <a:rPr lang="en-US" altLang="zh-CN" dirty="0" err="1"/>
              <a:t>niveau</a:t>
            </a:r>
            <a:r>
              <a:rPr lang="fr-FR" altLang="zh-CN" dirty="0"/>
              <a:t> textuel, dans </a:t>
            </a:r>
            <a:r>
              <a:rPr lang="fr-FR" altLang="zh-CN"/>
              <a:t>les deux villes, </a:t>
            </a:r>
            <a:r>
              <a:rPr lang="fr-FR" altLang="zh-CN" dirty="0"/>
              <a:t>l</a:t>
            </a:r>
            <a:r>
              <a:rPr lang="zh-CN" altLang="zh-CN" dirty="0"/>
              <a:t>es hôtes existants adoptent une présentation de soi plus stratégique, notamment à travers l’auto-promotion, tandis que les nouveaux entrants présentent des profils plus homogènes.</a:t>
            </a:r>
            <a:r>
              <a:rPr lang="fr-FR" altLang="zh-CN" dirty="0"/>
              <a:t> (avec variation relativement limitée)</a:t>
            </a:r>
          </a:p>
          <a:p>
            <a:pPr lvl="0"/>
            <a:endParaRPr lang="fr-FR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fr-FR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 niveau visuel, la répartition des 3 </a:t>
            </a:r>
            <a:r>
              <a:rPr lang="fr-FR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ctgs</a:t>
            </a:r>
            <a:r>
              <a:rPr lang="fr-FR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reste globalement équilibrée à Londres, quel que soit le type d’hôte</a:t>
            </a:r>
            <a:endParaRPr lang="fr-FR" altLang="zh-CN" dirty="0"/>
          </a:p>
          <a:p>
            <a:pPr lvl="0"/>
            <a:r>
              <a:rPr lang="fr-FR" altLang="zh-CN" dirty="0"/>
              <a:t>Mais,  à</a:t>
            </a:r>
            <a:r>
              <a:rPr lang="zh-CN" altLang="zh-CN" dirty="0"/>
              <a:t> Paris, les nouveaux utilisent</a:t>
            </a:r>
            <a:r>
              <a:rPr lang="fr-FR" altLang="zh-CN" dirty="0"/>
              <a:t> </a:t>
            </a:r>
            <a:r>
              <a:rPr lang="zh-CN" altLang="zh-CN" dirty="0"/>
              <a:t>plus fréquemment des portraits</a:t>
            </a:r>
            <a:r>
              <a:rPr lang="fr-FR" altLang="zh-CN" dirty="0"/>
              <a:t>.</a:t>
            </a:r>
          </a:p>
          <a:p>
            <a:pPr lvl="0"/>
            <a:endParaRPr lang="fr-FR" altLang="zh-CN" dirty="0"/>
          </a:p>
          <a:p>
            <a:pPr lvl="0"/>
            <a:endParaRPr lang="fr-FR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308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Pour comparer les ajustements, les modèles incluent un terme d’interaction entre la période, la ville et le type d’hôte.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Les résultats</a:t>
            </a:r>
            <a:r>
              <a:rPr lang="en-US" altLang="zh-CN" dirty="0"/>
              <a:t> </a:t>
            </a:r>
            <a:r>
              <a:rPr lang="zh-CN" altLang="zh-CN" dirty="0"/>
              <a:t>mettent en évidence </a:t>
            </a:r>
            <a:r>
              <a:rPr lang="fr-FR" altLang="zh-CN" dirty="0"/>
              <a:t>des adaptations différenciées claires.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b="0" dirty="0"/>
              <a:t>Les nouveaux entrants apparaissent plus flexibles et plus réactifs. Ils mobilisent un éventail plus large de tactiques et </a:t>
            </a:r>
            <a:r>
              <a:rPr lang="fr-FR" altLang="zh-CN" b="0" dirty="0"/>
              <a:t>les </a:t>
            </a:r>
            <a:r>
              <a:rPr lang="zh-CN" altLang="zh-CN" b="0" dirty="0"/>
              <a:t>ajustent de manière plus marquée.</a:t>
            </a:r>
            <a:r>
              <a:rPr lang="fr-FR" altLang="zh-CN" b="0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b="0" dirty="0"/>
              <a:t>À l’inverse, les hôtes existants adoptent une stratégie plus ciblée</a:t>
            </a:r>
            <a:r>
              <a:rPr lang="fr-FR" altLang="zh-CN" b="0" dirty="0"/>
              <a:t>, centrée </a:t>
            </a:r>
            <a:r>
              <a:rPr lang="zh-CN" altLang="zh-CN" b="0" dirty="0"/>
              <a:t>principalement </a:t>
            </a:r>
            <a:r>
              <a:rPr lang="fr-FR" altLang="zh-CN" b="0" dirty="0"/>
              <a:t>sur l’auto-promotion.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De plus, l’effet négatif et significatif, confirme le manque de pertinence de cette tactique et la flexibilité plus forte des hôtes nouvellement actifs.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===============================================================</a:t>
            </a: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他们强化了已有偏好。</a:t>
            </a:r>
            <a:r>
              <a:rPr lang="fr-FR" altLang="zh-CN" dirty="0"/>
              <a:t>renforcer des modes de présentation déjà privilégiés</a:t>
            </a:r>
            <a:endParaRPr lang="zh-CN" altLang="en-US" dirty="0"/>
          </a:p>
          <a:p>
            <a:endParaRPr lang="fr-FR" altLang="zh-CN" dirty="0"/>
          </a:p>
          <a:p>
            <a:r>
              <a:rPr lang="fr-FR" altLang="zh-CN" dirty="0"/>
              <a:t>Adaptation p</a:t>
            </a:r>
            <a:r>
              <a:rPr lang="en-US" altLang="zh-CN" dirty="0" err="1"/>
              <a:t>lu</a:t>
            </a:r>
            <a:r>
              <a:rPr lang="fr-FR" altLang="zh-CN" dirty="0"/>
              <a:t>s ciblée // sélective</a:t>
            </a:r>
          </a:p>
          <a:p>
            <a:r>
              <a:rPr lang="fr-FR" altLang="zh-CN" dirty="0"/>
              <a:t>Cohérent avec leur style établi</a:t>
            </a:r>
          </a:p>
          <a:p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Tous les ajustements possibles ne sont pas encouragés par le contexte.</a:t>
            </a:r>
          </a:p>
          <a:p>
            <a:endParaRPr lang="fr-FR" altLang="zh-CN" dirty="0"/>
          </a:p>
          <a:p>
            <a:endParaRPr lang="fr-FR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96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340B4-21B2-BA84-F0D9-C5538AE9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B37F2B-8F91-9C20-391A-C593FE7B4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A0D9F6-7F39-24A6-DA55-29DDF7A13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1" dirty="0"/>
              <a:t>Contexte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Néanmoins, les </a:t>
            </a:r>
            <a:r>
              <a:rPr lang="zh-CN" altLang="zh-CN" b="0" dirty="0"/>
              <a:t>deux groupes</a:t>
            </a:r>
            <a:r>
              <a:rPr lang="fr-FR" altLang="zh-CN" b="0" dirty="0"/>
              <a:t> partagent des points communs: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Premièrement, ils restent </a:t>
            </a:r>
            <a:r>
              <a:rPr lang="en-US" altLang="zh-CN" b="0" dirty="0" err="1"/>
              <a:t>sensibles</a:t>
            </a:r>
            <a:r>
              <a:rPr lang="fr-FR" altLang="zh-CN" b="0" dirty="0"/>
              <a:t> aux transformations du marché.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Ils renforcent conjointement l’auto-promotion et </a:t>
            </a:r>
            <a:r>
              <a:rPr lang="zh-CN" altLang="zh-CN" b="0" dirty="0"/>
              <a:t>et les photos avec présence humaine</a:t>
            </a: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 (</a:t>
            </a:r>
            <a:r>
              <a:rPr lang="fr-FR" altLang="zh-CN" b="0" dirty="0" err="1"/>
              <a:t>meme</a:t>
            </a:r>
            <a:r>
              <a:rPr lang="fr-FR" altLang="zh-CN" b="0" dirty="0"/>
              <a:t> avec une inclination pour les portraits chez les nouveaux hôtes et pour les photos de vie chez les hôtes établis)</a:t>
            </a:r>
            <a:r>
              <a:rPr lang="zh-CN" altLang="zh-CN" b="0" dirty="0"/>
              <a:t>, </a:t>
            </a: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0" dirty="0"/>
              <a:t>En tout cas, ils s’adapte activement au contexte et cherchent à</a:t>
            </a:r>
            <a:r>
              <a:rPr lang="zh-CN" altLang="zh-CN" b="0" dirty="0"/>
              <a:t> transmettre plus efficacement des signaux de confiance.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1" dirty="0"/>
              <a:t>Continuité / cohérence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b="1" dirty="0"/>
              <a:t>Deuxièmement</a:t>
            </a:r>
            <a:r>
              <a:rPr lang="fr-FR" altLang="zh-CN" b="0" dirty="0"/>
              <a:t>, les </a:t>
            </a:r>
            <a:r>
              <a:rPr lang="zh-CN" altLang="zh-CN" b="0" dirty="0"/>
              <a:t>ajustements</a:t>
            </a:r>
            <a:r>
              <a:rPr lang="fr-FR" altLang="zh-CN" b="0" dirty="0"/>
              <a:t> </a:t>
            </a:r>
            <a:r>
              <a:rPr lang="zh-CN" altLang="zh-CN" b="0" dirty="0"/>
              <a:t>prennent souvent la forme d’un renforcement des modes de présentation </a:t>
            </a:r>
            <a:r>
              <a:rPr lang="fr-FR" altLang="zh-CN" b="0" dirty="0"/>
              <a:t>de soi </a:t>
            </a:r>
            <a:r>
              <a:rPr lang="zh-CN" altLang="zh-CN" b="0" dirty="0"/>
              <a:t>déjà privilégiés.</a:t>
            </a:r>
            <a:r>
              <a:rPr lang="en-US" altLang="zh-CN" b="0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/>
              <a:t>Par </a:t>
            </a:r>
            <a:r>
              <a:rPr lang="fr-FR" altLang="zh-CN" b="0" noProof="0" dirty="0"/>
              <a:t>exemple</a:t>
            </a:r>
            <a:r>
              <a:rPr lang="en-US" altLang="zh-CN" b="0" dirty="0"/>
              <a:t>, </a:t>
            </a:r>
            <a:r>
              <a:rPr lang="fr-FR" altLang="zh-CN" b="0" dirty="0"/>
              <a:t>l</a:t>
            </a:r>
            <a:r>
              <a:rPr lang="zh-CN" altLang="zh-CN" b="0" dirty="0"/>
              <a:t>es nouveaux entrants</a:t>
            </a:r>
            <a:r>
              <a:rPr lang="fr-FR" altLang="zh-CN" b="0" dirty="0"/>
              <a:t> à paris</a:t>
            </a:r>
            <a:r>
              <a:rPr lang="zh-CN" altLang="zh-CN" b="0" dirty="0"/>
              <a:t> </a:t>
            </a:r>
            <a:r>
              <a:rPr lang="zh-CN" altLang="zh-CN" b="1" dirty="0"/>
              <a:t>renforcent</a:t>
            </a:r>
            <a:r>
              <a:rPr lang="zh-CN" altLang="zh-CN" b="0" dirty="0"/>
              <a:t> davantage la sociabilité </a:t>
            </a:r>
            <a:r>
              <a:rPr lang="fr-FR" altLang="zh-CN" b="0" dirty="0"/>
              <a:t>et</a:t>
            </a:r>
            <a:r>
              <a:rPr lang="zh-CN" altLang="zh-CN" b="0" dirty="0"/>
              <a:t> les portraits, tandis que les hôtes existants</a:t>
            </a:r>
            <a:r>
              <a:rPr lang="fr-FR" altLang="zh-CN" b="0" dirty="0"/>
              <a:t> </a:t>
            </a:r>
            <a:r>
              <a:rPr lang="zh-CN" altLang="zh-CN" b="1" dirty="0"/>
              <a:t>accentuent</a:t>
            </a:r>
            <a:r>
              <a:rPr lang="zh-CN" altLang="zh-CN" b="0" dirty="0"/>
              <a:t> surtout l’auto-promotion.</a:t>
            </a:r>
            <a:r>
              <a:rPr lang="fr-FR" altLang="zh-CN" b="0" dirty="0"/>
              <a:t> </a:t>
            </a:r>
            <a:endParaRPr lang="zh-CN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zh-CN" dirty="0"/>
          </a:p>
          <a:p>
            <a:endParaRPr lang="fr-FR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93E82-F325-F129-EED7-2FD97972B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1487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309F5-6F5B-4A9B-A72E-7796625AD0C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09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826D9-3840-2408-1A0D-70789E435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FB638B-5683-EEAD-D190-05479FBCC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409F0-1581-39D5-D08C-A32EF1CF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2A2211-50A8-3D94-CED1-A4D5AE34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DEE93A-AB03-0329-978E-666BAB10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9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92FC9-A68B-9962-86A7-FD3F7ED76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076448-613D-10E4-B3AA-B834E3E02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68842E-1743-9AD6-1B8E-6DDA47AB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C61DED-299F-EC73-EAF1-65D84C79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69BF58-9AC5-36D0-7095-C60B3EBCB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71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DFDA58-2FCE-3D80-7D69-FE0C159B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C2FCFF-731D-0C1B-8EEB-1DE7C6392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853117-4D16-004E-521D-92523E8B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3CB254-C36F-F012-748B-FDE8315AE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7798DD-F5FA-9037-F3E3-65733753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87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B9979-152E-9F49-3030-11026629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290AB-6A45-6163-9DBC-A8BCA4FAA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438A48-C7E3-A19E-EFC3-92DD075E9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3DE905-061C-E881-37AE-88712563B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60C29E-BB83-9EA7-C655-FE83D6831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649835-7C90-924B-7B5D-3FE4AF554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30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C749E-2D8C-D2FC-0CFC-E855484F3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DACD98-3976-3C1B-C46D-CD9BD0225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183E1E-4793-075A-49CE-442FBD618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D40B0C-A6FC-2FF2-BE4D-D38DB6B9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567BEB-6CE3-96B4-E6AB-E3656E973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7B8207-8CE1-4EC9-CC65-339BD59EA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ADB874-D2C2-3F37-270D-21D5470A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012DFA-1118-6B83-ADCF-DAAE7ABE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594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CF40B-CBA8-3BD6-89C5-BC0EF5F4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CEDEF7-BCFC-2A2C-04AD-CBEEA732C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FD640B-E95F-9A63-3AF9-E0371E8C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B19291-B7DB-A865-F30C-61FF0874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038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556FE9-DC5F-3B2E-B495-21725CB6E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860574-8D47-FE5C-8711-0A2013CE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64647D-ADBC-1FB5-E6C6-D2CD3E7C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43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7EFE4-A4EC-60C5-3786-12982033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BB5678-7037-AD99-0842-02626ACA1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A17711-980D-66E2-3ECC-D40166E85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849A29-EAAE-D4CD-4073-C3C998AB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CE0F0A-22A6-406F-B78F-E41DD7A3B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53151B-3C0E-738F-2CDD-2A80DF1E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936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D0706-C2F4-326F-F0DA-E207A45F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BDF696-1378-E8EC-31F6-7ADB515CB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A0BF53-CA4E-39C7-186C-93CF573DC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FACCD8-1050-8001-E7D2-7868701A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ADD308-A005-D771-BDE5-9B32E313C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FFD183-58C9-0EB0-AF9D-B6FA7724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63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4BA6B-3C91-A180-C607-AAB19E66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D88C3F-6C7D-76D7-C794-8B7451E0C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5BA41-DE76-3DAA-483A-64764B76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0FCA81-99E9-61F0-549E-E9D76F2F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6A5BB-A37B-146B-9D04-BD2BEEAC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80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173A30-6322-AA8B-93AB-CD79A1923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F65725-A2B3-AFDD-7A2A-1DFD994CF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34E025-111F-28C0-140F-8C22BBFAB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E99F8-79FA-ADCB-0B7E-80B0D325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E6EC11-2152-061D-0372-2C2CDC61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42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7BD260-09F2-0CEE-6436-C69DD656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BFD78C-FD33-F0DD-51A5-BC364B572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A580D5-EBD8-A7E2-8E39-8D9C660AF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4E900-5D26-423D-8DCA-D91FB1795E5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76CF9A-D4E0-7DFC-9C90-484C3312A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313B21-4486-1827-7780-C8D4969E2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A9971-8765-42EF-A20E-2ECD4B1A3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15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0F4C6-83A7-DC6B-93A3-2F2274F32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367" y="1693334"/>
            <a:ext cx="10473265" cy="204046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fr-FR" altLang="zh-CN" sz="4000" b="1" dirty="0"/>
              <a:t>Stratégies de la présentation de soi des hôtes Airbnb </a:t>
            </a:r>
            <a:br>
              <a:rPr lang="fr-FR" altLang="zh-CN" sz="4000" b="1" dirty="0"/>
            </a:br>
            <a:r>
              <a:rPr lang="fr-FR" altLang="zh-CN" sz="4000" b="1" dirty="0"/>
              <a:t>en réponse aux Jeux Olympiques de Paris 2024</a:t>
            </a:r>
            <a:endParaRPr lang="zh-CN" altLang="en-US" sz="40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7D18DF-AB64-E804-6FBF-D45AD8871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5290"/>
            <a:ext cx="9144000" cy="1298749"/>
          </a:xfrm>
        </p:spPr>
        <p:txBody>
          <a:bodyPr/>
          <a:lstStyle/>
          <a:p>
            <a:r>
              <a:rPr lang="fr-FR" altLang="zh-CN" dirty="0"/>
              <a:t>Ye Liu, 11 juin 2026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0542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CB590-2DC8-E80B-53AB-83F53FD4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/>
              <a:t>Plan 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6CFA7F-FADB-1B14-4F7E-5E68EE6FE6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altLang="zh-CN" dirty="0"/>
              <a:t>Contexte </a:t>
            </a:r>
          </a:p>
          <a:p>
            <a:pPr marL="514350" indent="-514350">
              <a:buFont typeface="+mj-lt"/>
              <a:buAutoNum type="arabicPeriod"/>
            </a:pPr>
            <a:r>
              <a:rPr lang="fr-FR" altLang="zh-CN" dirty="0"/>
              <a:t>RQ et hypothèses</a:t>
            </a:r>
          </a:p>
          <a:p>
            <a:pPr marL="514350" indent="-514350">
              <a:buFont typeface="+mj-lt"/>
              <a:buAutoNum type="arabicPeriod"/>
            </a:pPr>
            <a:endParaRPr lang="fr-FR" altLang="zh-CN" dirty="0"/>
          </a:p>
          <a:p>
            <a:pPr marL="514350" indent="-514350">
              <a:buFont typeface="+mj-lt"/>
              <a:buAutoNum type="arabicPeriod"/>
            </a:pPr>
            <a:r>
              <a:rPr lang="fr-FR" altLang="zh-CN" dirty="0"/>
              <a:t>Données</a:t>
            </a:r>
          </a:p>
          <a:p>
            <a:pPr marL="514350" indent="-514350">
              <a:buFont typeface="+mj-lt"/>
              <a:buAutoNum type="arabicPeriod"/>
            </a:pPr>
            <a:r>
              <a:rPr lang="fr-FR" altLang="zh-CN" dirty="0"/>
              <a:t>Tactiques textuelles </a:t>
            </a:r>
          </a:p>
          <a:p>
            <a:pPr marL="514350" indent="-514350">
              <a:buFont typeface="+mj-lt"/>
              <a:buAutoNum type="arabicPeriod"/>
            </a:pPr>
            <a:r>
              <a:rPr lang="fr-FR" altLang="zh-CN" dirty="0"/>
              <a:t>Tactiques visuelles </a:t>
            </a:r>
          </a:p>
          <a:p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C9FBF1-6DC3-DF2C-26C5-32B9AADFC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74057" cy="4351338"/>
          </a:xfrm>
        </p:spPr>
        <p:txBody>
          <a:bodyPr/>
          <a:lstStyle/>
          <a:p>
            <a:pPr marL="514350" indent="-514350">
              <a:buAutoNum type="arabicPeriod" startAt="6"/>
            </a:pPr>
            <a:r>
              <a:rPr lang="fr-FR" altLang="zh-CN" dirty="0"/>
              <a:t>Analyses descriptives</a:t>
            </a:r>
          </a:p>
          <a:p>
            <a:pPr marL="514350" indent="-514350">
              <a:buAutoNum type="arabicPeriod" startAt="6"/>
            </a:pPr>
            <a:r>
              <a:rPr lang="fr-FR" altLang="zh-CN" dirty="0"/>
              <a:t>Identification des ajustements</a:t>
            </a:r>
          </a:p>
          <a:p>
            <a:pPr marL="514350" indent="-514350">
              <a:buAutoNum type="arabicPeriod" startAt="6"/>
            </a:pPr>
            <a:r>
              <a:rPr lang="fr-FR" altLang="zh-CN" dirty="0"/>
              <a:t>Hétérogénéité des réponses</a:t>
            </a:r>
          </a:p>
          <a:p>
            <a:pPr marL="514350" indent="-514350">
              <a:buAutoNum type="arabicPeriod" startAt="6"/>
            </a:pPr>
            <a:r>
              <a:rPr lang="fr-FR" altLang="zh-CN" dirty="0"/>
              <a:t>Conclusion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131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3B4D6-6965-ECFD-68FF-6A6A8998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/>
              <a:t>Contexte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FFD0F-F77F-9F30-D680-391C7068F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37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altLang="zh-CN" b="1" dirty="0"/>
              <a:t>Airbnb : </a:t>
            </a:r>
            <a:r>
              <a:rPr lang="fr-FR" altLang="zh-CN" dirty="0"/>
              <a:t>repose sur la confiance entre inconnus.</a:t>
            </a:r>
          </a:p>
          <a:p>
            <a:pPr marL="0" indent="0">
              <a:buNone/>
            </a:pPr>
            <a:r>
              <a:rPr lang="zh-CN" altLang="en-US" sz="2400" dirty="0"/>
              <a:t>↓</a:t>
            </a:r>
            <a:endParaRPr lang="fr-FR" altLang="zh-CN" sz="2400" dirty="0"/>
          </a:p>
          <a:p>
            <a:pPr marL="0" indent="0">
              <a:buNone/>
            </a:pPr>
            <a:r>
              <a:rPr lang="fr-FR" altLang="zh-CN" b="1" dirty="0"/>
              <a:t>Présentation de soi : </a:t>
            </a:r>
            <a:r>
              <a:rPr lang="fr-FR" altLang="zh-CN" dirty="0"/>
              <a:t>un levier de confiance</a:t>
            </a:r>
          </a:p>
          <a:p>
            <a:pPr marL="0" indent="0">
              <a:buNone/>
            </a:pPr>
            <a:r>
              <a:rPr lang="zh-CN" altLang="en-US" dirty="0"/>
              <a:t>↓</a:t>
            </a:r>
            <a:endParaRPr lang="fr-FR" altLang="zh-CN" dirty="0"/>
          </a:p>
          <a:p>
            <a:pPr marL="0" indent="0">
              <a:buNone/>
            </a:pPr>
            <a:r>
              <a:rPr lang="fr-FR" altLang="zh-CN" b="1" dirty="0"/>
              <a:t>Caractéristiques : </a:t>
            </a:r>
            <a:r>
              <a:rPr lang="fr-FR" altLang="zh-CN" dirty="0"/>
              <a:t>dynamique, stratégique, contextuelle</a:t>
            </a:r>
          </a:p>
          <a:p>
            <a:pPr marL="0" indent="0">
              <a:buNone/>
            </a:pPr>
            <a:r>
              <a:rPr lang="zh-CN" altLang="en-US" dirty="0"/>
              <a:t>↓</a:t>
            </a:r>
            <a:endParaRPr lang="fr-FR" altLang="zh-CN" dirty="0"/>
          </a:p>
          <a:p>
            <a:pPr marL="0" indent="0">
              <a:buNone/>
            </a:pPr>
            <a:r>
              <a:rPr lang="fr-FR" altLang="zh-CN" b="1" dirty="0"/>
              <a:t>JO: </a:t>
            </a:r>
            <a:r>
              <a:rPr lang="fr-FR" altLang="zh-CN" dirty="0"/>
              <a:t>transformation du marché et un contexte d’observation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438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3AB0B-877B-8B4C-78A8-4EAE665BF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Questions de recherche &amp; hypothèses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EFD89-55EC-1070-AD52-9E7C84432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3212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altLang="zh-CN" dirty="0"/>
              <a:t>Comment les hôtes ajustent-ils leur présentation de soi ?</a:t>
            </a:r>
          </a:p>
          <a:p>
            <a:pPr marL="514350" indent="-514350">
              <a:buFont typeface="+mj-lt"/>
              <a:buAutoNum type="arabicPeriod"/>
            </a:pPr>
            <a:r>
              <a:rPr lang="fr-FR" altLang="zh-CN" dirty="0"/>
              <a:t>Existe-il une logique similaire entre les signaux textuels et visuels ?</a:t>
            </a:r>
          </a:p>
          <a:p>
            <a:pPr marL="514350" indent="-514350">
              <a:buFont typeface="+mj-lt"/>
              <a:buAutoNum type="arabicPeriod"/>
            </a:pPr>
            <a:r>
              <a:rPr lang="fr-FR" altLang="zh-CN" dirty="0"/>
              <a:t>Les nouveaux entrants et les hôtes établis, ajustent-ils leur présentation de soi de manière différente ?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D3A454-E2E2-93B5-165C-1ECEBF714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86600" y="1825625"/>
            <a:ext cx="4267199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→ </a:t>
            </a:r>
            <a:r>
              <a:rPr lang="fr-FR" altLang="zh-CN" dirty="0"/>
              <a:t>Intensification des tactiques.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→ </a:t>
            </a:r>
            <a:r>
              <a:rPr lang="fr-FR" altLang="zh-CN" dirty="0"/>
              <a:t>une logique commune.</a:t>
            </a:r>
          </a:p>
          <a:p>
            <a:pPr marL="0" indent="0">
              <a:buNone/>
            </a:pPr>
            <a:endParaRPr lang="fr-FR" altLang="zh-CN" dirty="0"/>
          </a:p>
          <a:p>
            <a:pPr marL="0" indent="0">
              <a:buNone/>
            </a:pPr>
            <a:r>
              <a:rPr lang="zh-CN" altLang="en-US" dirty="0"/>
              <a:t>→ </a:t>
            </a:r>
            <a:r>
              <a:rPr lang="fr-FR" altLang="zh-CN" dirty="0"/>
              <a:t>réponses différenciées selon leur profil.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705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4FFE4-23DD-4B18-6CFE-E0F160F1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3B29A-8609-DE81-8500-04693ED5F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Données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E4CEE-EE64-8BC9-C513-7838201609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altLang="zh-CN" b="1" dirty="0"/>
              <a:t>Source</a:t>
            </a:r>
            <a:r>
              <a:rPr lang="fr-FR" altLang="zh-CN" dirty="0"/>
              <a:t> : Inside Airbnb </a:t>
            </a:r>
          </a:p>
          <a:p>
            <a:r>
              <a:rPr lang="fr-FR" altLang="zh-CN" b="1" dirty="0"/>
              <a:t>Taille totale </a:t>
            </a:r>
            <a:r>
              <a:rPr lang="fr-FR" altLang="zh-CN" dirty="0"/>
              <a:t>: plus de 26, 600 annonces</a:t>
            </a:r>
          </a:p>
          <a:p>
            <a:r>
              <a:rPr lang="fr-FR" altLang="zh-CN" b="1" dirty="0"/>
              <a:t>2 villes </a:t>
            </a:r>
            <a:r>
              <a:rPr lang="fr-FR" altLang="zh-CN" dirty="0"/>
              <a:t>: Paris vs Londres</a:t>
            </a:r>
          </a:p>
          <a:p>
            <a:r>
              <a:rPr lang="fr-FR" altLang="zh-CN" b="1" dirty="0"/>
              <a:t>3 périodes</a:t>
            </a:r>
            <a:r>
              <a:rPr lang="fr-FR" altLang="zh-CN" dirty="0"/>
              <a:t> : </a:t>
            </a:r>
          </a:p>
          <a:p>
            <a:pPr lvl="1"/>
            <a:r>
              <a:rPr lang="fr-FR" altLang="zh-CN" dirty="0"/>
              <a:t>Pré-choc : juin 2023, décembre 2023</a:t>
            </a:r>
          </a:p>
          <a:p>
            <a:pPr lvl="1"/>
            <a:r>
              <a:rPr lang="fr-FR" altLang="zh-CN" dirty="0"/>
              <a:t>Post-choc:  juin 2024</a:t>
            </a:r>
          </a:p>
          <a:p>
            <a:pPr lvl="1"/>
            <a:endParaRPr lang="fr-FR" altLang="zh-CN" sz="28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E65780-F701-E9A1-F949-B08AEBBED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861560" cy="4351338"/>
          </a:xfrm>
        </p:spPr>
        <p:txBody>
          <a:bodyPr>
            <a:normAutofit/>
          </a:bodyPr>
          <a:lstStyle/>
          <a:p>
            <a:r>
              <a:rPr lang="fr-FR" altLang="zh-CN" dirty="0"/>
              <a:t>Présentation de soi </a:t>
            </a:r>
          </a:p>
          <a:p>
            <a:pPr lvl="1"/>
            <a:r>
              <a:rPr lang="fr-FR" altLang="zh-CN" dirty="0"/>
              <a:t>Textuel :  description personnelle (50% remplies)</a:t>
            </a:r>
          </a:p>
          <a:p>
            <a:pPr lvl="1"/>
            <a:r>
              <a:rPr lang="fr-FR" altLang="zh-CN" dirty="0"/>
              <a:t>Visuel : photo de profil (95% disponibles)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4397DC-AF58-FD72-0572-38F1B7D0A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810" y="3825759"/>
            <a:ext cx="3482340" cy="303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241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423AD-8F63-887A-36A8-E341E367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Transformations du marché</a:t>
            </a:r>
            <a:endParaRPr lang="zh-CN" altLang="en-US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C5C05A47-5A1A-D47C-A862-12C8F7DD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862" y="1825625"/>
            <a:ext cx="39946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altLang="zh-CN" b="1" dirty="0"/>
              <a:t>En juin 2024, à Paris:</a:t>
            </a:r>
          </a:p>
          <a:p>
            <a:r>
              <a:rPr lang="fr-FR" altLang="zh-CN" b="1" dirty="0"/>
              <a:t>Offre</a:t>
            </a:r>
            <a:r>
              <a:rPr lang="fr-FR" altLang="zh-CN" dirty="0"/>
              <a:t> : </a:t>
            </a:r>
          </a:p>
          <a:p>
            <a:pPr lvl="1"/>
            <a:r>
              <a:rPr lang="fr-FR" altLang="zh-CN" dirty="0"/>
              <a:t>Expansion </a:t>
            </a:r>
            <a:r>
              <a:rPr lang="zh-CN" altLang="zh-CN" dirty="0"/>
              <a:t>du nombre d’hôtes et d’annonces</a:t>
            </a:r>
            <a:endParaRPr lang="fr-FR" altLang="zh-CN" dirty="0"/>
          </a:p>
          <a:p>
            <a:r>
              <a:rPr lang="fr-FR" altLang="zh-CN" b="1" dirty="0"/>
              <a:t>Demande</a:t>
            </a:r>
            <a:r>
              <a:rPr lang="fr-FR" altLang="zh-CN" dirty="0"/>
              <a:t>: </a:t>
            </a:r>
          </a:p>
          <a:p>
            <a:pPr lvl="1"/>
            <a:r>
              <a:rPr lang="zh-CN" altLang="zh-CN" dirty="0"/>
              <a:t>hausse des réservations</a:t>
            </a:r>
            <a:endParaRPr lang="fr-FR" altLang="zh-CN" dirty="0"/>
          </a:p>
          <a:p>
            <a:r>
              <a:rPr lang="fr-FR" altLang="zh-CN" b="1" dirty="0"/>
              <a:t>Concurrence</a:t>
            </a:r>
            <a:r>
              <a:rPr lang="fr-FR" altLang="zh-CN" dirty="0"/>
              <a:t> :</a:t>
            </a:r>
          </a:p>
          <a:p>
            <a:pPr lvl="1"/>
            <a:r>
              <a:rPr lang="zh-CN" altLang="zh-CN" dirty="0"/>
              <a:t>pression concurrentielle accrue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D7347B-FC24-0F63-0EB6-D4355F70F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425" y="1329404"/>
            <a:ext cx="6709150" cy="26718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34B4778-B015-E7C9-A192-7CEA2E002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849" y="4001294"/>
            <a:ext cx="6709151" cy="262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84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2A8BD-AACD-CF50-9466-AA6234CB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882D6-2EEA-0826-66B0-312239A00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altLang="zh-CN" b="1" dirty="0"/>
              <a:t>Mesure des tactiques textuelles 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D0B3D2-7CBA-D698-313D-7C16F19B2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008" y="972289"/>
            <a:ext cx="6675992" cy="5885711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469962B-2815-838E-55D8-EB301789FCFB}"/>
              </a:ext>
            </a:extLst>
          </p:cNvPr>
          <p:cNvSpPr txBox="1">
            <a:spLocks/>
          </p:cNvSpPr>
          <p:nvPr/>
        </p:nvSpPr>
        <p:spPr>
          <a:xfrm>
            <a:off x="838200" y="1525778"/>
            <a:ext cx="6464300" cy="4190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sz="2200" b="1" dirty="0"/>
              <a:t>Tactiques textuelles:</a:t>
            </a:r>
          </a:p>
          <a:p>
            <a:pPr lvl="1"/>
            <a:r>
              <a:rPr lang="fr-FR" altLang="zh-CN" sz="2200" b="1" dirty="0"/>
              <a:t>Ouverture</a:t>
            </a:r>
            <a:r>
              <a:rPr lang="fr-FR" altLang="zh-CN" sz="2200" dirty="0"/>
              <a:t>: échange culturel, cosmopolitisme </a:t>
            </a:r>
          </a:p>
          <a:p>
            <a:pPr lvl="1"/>
            <a:r>
              <a:rPr lang="fr-FR" altLang="zh-CN" sz="2200" b="1" dirty="0"/>
              <a:t>Authenticité</a:t>
            </a:r>
            <a:r>
              <a:rPr lang="fr-FR" altLang="zh-CN" sz="2200" dirty="0"/>
              <a:t>: infos personnelles</a:t>
            </a:r>
          </a:p>
          <a:p>
            <a:pPr lvl="1"/>
            <a:r>
              <a:rPr lang="fr-FR" altLang="zh-CN" sz="2200" b="1" dirty="0"/>
              <a:t>Sociabilité</a:t>
            </a:r>
            <a:r>
              <a:rPr lang="fr-FR" altLang="zh-CN" sz="2200" dirty="0"/>
              <a:t> : interaction, communication</a:t>
            </a:r>
          </a:p>
          <a:p>
            <a:pPr lvl="1"/>
            <a:r>
              <a:rPr lang="fr-FR" altLang="zh-CN" sz="2200" b="1" dirty="0"/>
              <a:t>Auto-promotion</a:t>
            </a:r>
            <a:r>
              <a:rPr lang="fr-FR" altLang="zh-CN" sz="2200" dirty="0"/>
              <a:t> : service, compétence</a:t>
            </a:r>
          </a:p>
          <a:p>
            <a:pPr lvl="1"/>
            <a:r>
              <a:rPr lang="fr-FR" altLang="zh-CN" sz="2200" b="1" dirty="0"/>
              <a:t>Exemplarité</a:t>
            </a:r>
            <a:r>
              <a:rPr lang="fr-FR" altLang="zh-CN" sz="2200" dirty="0"/>
              <a:t> : affiliation avec la plateforme</a:t>
            </a:r>
          </a:p>
          <a:p>
            <a:pPr lvl="1"/>
            <a:endParaRPr lang="fr-FR" altLang="zh-CN" sz="2200" dirty="0"/>
          </a:p>
          <a:p>
            <a:r>
              <a:rPr lang="fr-FR" altLang="zh-CN" sz="2200" b="1" dirty="0"/>
              <a:t>M</a:t>
            </a:r>
            <a:r>
              <a:rPr lang="en-US" altLang="zh-CN" sz="2200" b="1" dirty="0"/>
              <a:t>od</a:t>
            </a:r>
            <a:r>
              <a:rPr lang="fr-FR" altLang="zh-CN" sz="2200" b="1" dirty="0" err="1"/>
              <a:t>èle</a:t>
            </a:r>
            <a:r>
              <a:rPr lang="fr-FR" altLang="zh-CN" sz="2200" b="1" dirty="0"/>
              <a:t>:</a:t>
            </a:r>
          </a:p>
          <a:p>
            <a:pPr lvl="1"/>
            <a:r>
              <a:rPr lang="fr-FR" altLang="zh-CN" sz="1800" dirty="0"/>
              <a:t>Modèle de classification zéro-shot</a:t>
            </a:r>
          </a:p>
          <a:p>
            <a:pPr marL="457200" lvl="1" indent="0">
              <a:buNone/>
            </a:pPr>
            <a:r>
              <a:rPr lang="fr-FR" altLang="zh-CN" sz="1800" dirty="0"/>
              <a:t>(</a:t>
            </a:r>
            <a:r>
              <a:rPr lang="fr-FR" altLang="zh-CN" sz="1800" i="1" dirty="0" err="1"/>
              <a:t>MoritzLaurer</a:t>
            </a:r>
            <a:r>
              <a:rPr lang="fr-FR" altLang="zh-CN" sz="1800" i="1" dirty="0"/>
              <a:t>/bge-m3-zeroshot-v2.0)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altLang="zh-CN" sz="2200" i="1" dirty="0"/>
          </a:p>
        </p:txBody>
      </p:sp>
    </p:spTree>
    <p:extLst>
      <p:ext uri="{BB962C8B-B14F-4D97-AF65-F5344CB8AC3E}">
        <p14:creationId xmlns:p14="http://schemas.microsoft.com/office/powerpoint/2010/main" val="406052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06452-A681-7BA4-DA8E-374DB6F8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31" y="46892"/>
            <a:ext cx="10515600" cy="1325563"/>
          </a:xfrm>
        </p:spPr>
        <p:txBody>
          <a:bodyPr/>
          <a:lstStyle/>
          <a:p>
            <a:r>
              <a:rPr lang="fr-FR" altLang="zh-CN" b="1" dirty="0"/>
              <a:t>Validation de</a:t>
            </a:r>
            <a:r>
              <a:rPr lang="zh-CN" altLang="en-US" b="1" dirty="0"/>
              <a:t> </a:t>
            </a:r>
            <a:r>
              <a:rPr lang="fr-FR" altLang="zh-CN" b="1" dirty="0"/>
              <a:t>la</a:t>
            </a:r>
            <a:r>
              <a:rPr lang="zh-CN" altLang="en-US" b="1" dirty="0"/>
              <a:t> </a:t>
            </a:r>
            <a:r>
              <a:rPr lang="fr-FR" altLang="zh-CN" b="1" dirty="0"/>
              <a:t>mesure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5306A6-175C-99EE-384B-12478FAAE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30" y="1058796"/>
            <a:ext cx="6924621" cy="575231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79E63A8-4536-4CED-317D-EF64D5F5F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731" y="1216595"/>
            <a:ext cx="4662675" cy="2803097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EC5D9BD-7725-2240-0000-7AA03F629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4891" y="4175760"/>
            <a:ext cx="4827109" cy="2354010"/>
          </a:xfrm>
        </p:spPr>
        <p:txBody>
          <a:bodyPr>
            <a:normAutofit/>
          </a:bodyPr>
          <a:lstStyle/>
          <a:p>
            <a:r>
              <a:rPr lang="fr-FR" altLang="zh-CN" sz="2200" b="1" dirty="0"/>
              <a:t>Charge factorielle </a:t>
            </a:r>
            <a:r>
              <a:rPr lang="en-US" altLang="zh-CN" sz="2200" dirty="0"/>
              <a:t>&gt;0,5</a:t>
            </a:r>
            <a:r>
              <a:rPr lang="fr-FR" altLang="zh-CN" sz="2200" dirty="0"/>
              <a:t> </a:t>
            </a:r>
          </a:p>
          <a:p>
            <a:r>
              <a:rPr lang="fr-FR" altLang="zh-CN" sz="2200" b="1" dirty="0" err="1"/>
              <a:t>Communalité</a:t>
            </a:r>
            <a:r>
              <a:rPr lang="fr-FR" altLang="zh-CN" sz="2200" b="1" dirty="0"/>
              <a:t> </a:t>
            </a:r>
            <a:r>
              <a:rPr lang="en-US" altLang="zh-CN" sz="2200" dirty="0"/>
              <a:t>&gt; 0,5</a:t>
            </a:r>
          </a:p>
          <a:p>
            <a:r>
              <a:rPr lang="fr-FR" altLang="zh-CN" sz="2200" b="1" dirty="0" err="1"/>
              <a:t>Cronbach’s</a:t>
            </a:r>
            <a:r>
              <a:rPr lang="fr-FR" altLang="zh-CN" sz="2200" b="1" dirty="0"/>
              <a:t> alpha </a:t>
            </a:r>
            <a:r>
              <a:rPr lang="fr-FR" altLang="zh-CN" sz="2200" dirty="0"/>
              <a:t>: </a:t>
            </a:r>
            <a:r>
              <a:rPr lang="en-US" altLang="zh-CN" sz="2200" dirty="0"/>
              <a:t>0</a:t>
            </a:r>
            <a:r>
              <a:rPr lang="fr-FR" altLang="zh-CN" sz="2200" dirty="0"/>
              <a:t>, 84~0, 92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fr-FR" altLang="zh-CN" sz="2200" dirty="0">
                <a:sym typeface="Wingdings" panose="05000000000000000000" pitchFamily="2" charset="2"/>
              </a:rPr>
              <a:t> Scores pondérés des tactiques</a:t>
            </a:r>
            <a:r>
              <a:rPr lang="en-US" altLang="zh-CN" sz="2200" dirty="0"/>
              <a:t> 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altLang="zh-CN" sz="2200" dirty="0"/>
              <a:t> Si </a:t>
            </a:r>
            <a:r>
              <a:rPr lang="en-US" altLang="zh-CN" sz="2200" dirty="0" err="1"/>
              <a:t>absente</a:t>
            </a:r>
            <a:r>
              <a:rPr lang="en-US" altLang="zh-CN" sz="2200" dirty="0"/>
              <a:t> : </a:t>
            </a:r>
            <a:r>
              <a:rPr lang="en-US" altLang="zh-CN" sz="2200" dirty="0" err="1"/>
              <a:t>fixé</a:t>
            </a:r>
            <a:r>
              <a:rPr lang="en-US" altLang="zh-CN" sz="2200" dirty="0"/>
              <a:t> à 0+ </a:t>
            </a:r>
            <a:r>
              <a:rPr lang="en-US" altLang="zh-CN" sz="2200" i="1" dirty="0" err="1"/>
              <a:t>has_text</a:t>
            </a:r>
            <a:r>
              <a:rPr lang="fr-FR" altLang="zh-CN" sz="2200" dirty="0"/>
              <a:t> </a:t>
            </a:r>
            <a:endParaRPr lang="zh-CN" altLang="en-US" sz="2200" dirty="0"/>
          </a:p>
          <a:p>
            <a:pPr marL="0" indent="0">
              <a:buNone/>
            </a:pPr>
            <a:endParaRPr lang="fr-FR" altLang="zh-CN" sz="2200" dirty="0"/>
          </a:p>
          <a:p>
            <a:pPr marL="0" indent="0">
              <a:buNone/>
            </a:pPr>
            <a:endParaRPr lang="fr-FR" altLang="zh-CN" sz="2200" dirty="0"/>
          </a:p>
          <a:p>
            <a:endParaRPr lang="en-US" altLang="zh-CN" sz="2200" dirty="0"/>
          </a:p>
          <a:p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060522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B6237-DF13-CD70-C7F5-1E69FABB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Classification des photos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F04FD72-21A5-6F0E-8997-8AD2058ED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56" y="1368273"/>
            <a:ext cx="11356488" cy="333434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3EC6709-4C2F-42A8-878B-0D0A76F37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869" y="4694280"/>
            <a:ext cx="5785506" cy="209535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BFEF38E-9199-3B51-3AA7-116D8FD4B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756" y="4621894"/>
            <a:ext cx="5611008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90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B6842-E97D-6B46-1548-F5FFF681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Analyses descriptives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9675FA-4341-3EE4-96B0-93A331719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12798" cy="4351338"/>
          </a:xfrm>
        </p:spPr>
        <p:txBody>
          <a:bodyPr/>
          <a:lstStyle/>
          <a:p>
            <a:r>
              <a:rPr lang="fr-FR" altLang="zh-CN" dirty="0"/>
              <a:t>Niveaux moyens</a:t>
            </a:r>
          </a:p>
          <a:p>
            <a:r>
              <a:rPr lang="en-US" altLang="zh-CN" dirty="0" err="1"/>
              <a:t>Relationnelles</a:t>
            </a:r>
            <a:r>
              <a:rPr lang="fr-FR" altLang="zh-CN" dirty="0"/>
              <a:t> </a:t>
            </a:r>
            <a:r>
              <a:rPr lang="en-US" altLang="zh-CN" dirty="0"/>
              <a:t>&lt; p</a:t>
            </a:r>
            <a:r>
              <a:rPr lang="fr-FR" altLang="zh-CN" dirty="0" err="1"/>
              <a:t>romotionnelles</a:t>
            </a:r>
            <a:r>
              <a:rPr lang="fr-FR" altLang="zh-CN" dirty="0"/>
              <a:t> </a:t>
            </a:r>
          </a:p>
          <a:p>
            <a:r>
              <a:rPr lang="fr-FR" altLang="zh-CN" dirty="0"/>
              <a:t>surtout l’auto-promotion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4BF56A3-F9CD-CD4F-5275-416B94963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0998" y="1825625"/>
            <a:ext cx="5423333" cy="4351338"/>
          </a:xfrm>
        </p:spPr>
        <p:txBody>
          <a:bodyPr>
            <a:normAutofit/>
          </a:bodyPr>
          <a:lstStyle/>
          <a:p>
            <a:r>
              <a:rPr lang="fr-FR" altLang="zh-CN" sz="2400" dirty="0"/>
              <a:t>Proportions </a:t>
            </a:r>
          </a:p>
          <a:p>
            <a:r>
              <a:rPr lang="fr-FR" altLang="zh-CN" sz="2400" dirty="0"/>
              <a:t>Globalement équilibré </a:t>
            </a:r>
          </a:p>
          <a:p>
            <a:r>
              <a:rPr lang="fr-FR" altLang="zh-CN" sz="2400" dirty="0"/>
              <a:t>Surreprésentations légères des portraits à Paris et des photos sans personne à Londres</a:t>
            </a:r>
            <a:endParaRPr lang="zh-CN" altLang="en-US" sz="24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8D062AA-C2C4-815E-E951-3A065775E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52" y="3680433"/>
            <a:ext cx="6242146" cy="310368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1F60D4E-A62E-AC02-A823-1805DEDB79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796" y="3828195"/>
            <a:ext cx="5423333" cy="295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5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876DC-3B98-C4E1-98F7-3F404A0D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/>
              <a:t>Identification</a:t>
            </a:r>
            <a:r>
              <a:rPr lang="fr-FR" altLang="zh-CN" dirty="0"/>
              <a:t> des ajustements (1)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554CD7-E5C1-66EB-01C7-C11733CD7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1" y="1690687"/>
            <a:ext cx="3438834" cy="4802187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Par </a:t>
            </a:r>
            <a:r>
              <a:rPr lang="en-US" altLang="zh-CN" sz="2400" dirty="0" err="1"/>
              <a:t>l’approche</a:t>
            </a:r>
            <a:r>
              <a:rPr lang="en-US" altLang="zh-CN" sz="2400" dirty="0"/>
              <a:t> de type </a:t>
            </a:r>
            <a:r>
              <a:rPr lang="en-US" altLang="zh-CN" sz="2400" dirty="0" err="1"/>
              <a:t>dif</a:t>
            </a:r>
            <a:r>
              <a:rPr lang="fr-FR" altLang="zh-CN" sz="2400" dirty="0" err="1"/>
              <a:t>férence</a:t>
            </a:r>
            <a:r>
              <a:rPr lang="fr-FR" altLang="zh-CN" sz="2400" dirty="0"/>
              <a:t>-en-différences (DID) estimé par le modèle OLS</a:t>
            </a:r>
          </a:p>
          <a:p>
            <a:r>
              <a:rPr lang="fr-FR" altLang="zh-CN" sz="2400" dirty="0"/>
              <a:t>Formule = score de tactique ~ </a:t>
            </a:r>
            <a:r>
              <a:rPr lang="fr-FR" altLang="zh-CN" sz="2400" b="1" dirty="0"/>
              <a:t>ville * période </a:t>
            </a:r>
            <a:r>
              <a:rPr lang="fr-FR" altLang="zh-CN" sz="2400" dirty="0"/>
              <a:t>+ variables de contrôle</a:t>
            </a:r>
          </a:p>
          <a:p>
            <a:r>
              <a:rPr lang="en-US" altLang="zh-CN" sz="2400" b="1" dirty="0"/>
              <a:t>Eff</a:t>
            </a:r>
            <a:r>
              <a:rPr lang="fr-FR" altLang="zh-CN" sz="2400" b="1" dirty="0"/>
              <a:t>et du choc </a:t>
            </a:r>
            <a:r>
              <a:rPr lang="fr-FR" altLang="zh-CN" sz="2400" dirty="0"/>
              <a:t>= </a:t>
            </a:r>
            <a:r>
              <a:rPr lang="en-US" altLang="zh-CN" sz="2400" dirty="0"/>
              <a:t>β2406:paris - β2312:paris </a:t>
            </a:r>
            <a:endParaRPr lang="fr-FR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D98FC3A-5FB3-CC5D-C04E-9A33A563E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875" y="1027906"/>
            <a:ext cx="7333479" cy="400129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307F07-A5C1-FD47-19ED-840B628AB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397" y="4761053"/>
            <a:ext cx="7610603" cy="213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97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B43F9-CC96-F4CF-FCC4-0D2771C1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Identification</a:t>
            </a:r>
            <a:r>
              <a:rPr lang="fr-FR" altLang="zh-CN" dirty="0"/>
              <a:t> des ajustements (2)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52E6A4-D862-BE46-5E7C-B86DF6EC9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162701" cy="48992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altLang="zh-CN" sz="2200" dirty="0"/>
              <a:t>RQ1: Comment les hôtes ajustent-ils leur présentation de soi ?</a:t>
            </a:r>
            <a:endParaRPr lang="fr-FR" altLang="zh-CN" sz="2200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è"/>
            </a:pPr>
            <a:r>
              <a:rPr lang="fr-FR" altLang="zh-CN" sz="2200" dirty="0">
                <a:solidFill>
                  <a:srgbClr val="0070C0"/>
                </a:solidFill>
              </a:rPr>
              <a:t> La majorité des tactiques présentent des </a:t>
            </a:r>
            <a:r>
              <a:rPr lang="fr-FR" altLang="zh-CN" sz="2200" b="1" dirty="0">
                <a:solidFill>
                  <a:srgbClr val="0070C0"/>
                </a:solidFill>
              </a:rPr>
              <a:t>effets positifs et significatifs</a:t>
            </a:r>
            <a:r>
              <a:rPr lang="fr-FR" altLang="zh-CN" sz="2200" dirty="0">
                <a:solidFill>
                  <a:srgbClr val="0070C0"/>
                </a:solidFill>
              </a:rPr>
              <a:t>, c’est-à-dire des </a:t>
            </a:r>
            <a:r>
              <a:rPr lang="fr-FR" altLang="zh-CN" sz="2200" b="1" dirty="0">
                <a:solidFill>
                  <a:srgbClr val="0070C0"/>
                </a:solidFill>
              </a:rPr>
              <a:t>évolutions plus favorables</a:t>
            </a:r>
            <a:r>
              <a:rPr lang="fr-FR" altLang="zh-CN" sz="2200" dirty="0">
                <a:solidFill>
                  <a:srgbClr val="0070C0"/>
                </a:solidFill>
              </a:rPr>
              <a:t> à Paris qu’à Londres </a:t>
            </a:r>
          </a:p>
          <a:p>
            <a:pPr marL="0" indent="0">
              <a:buNone/>
            </a:pPr>
            <a:endParaRPr lang="fr-FR" altLang="zh-CN" sz="2200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è"/>
            </a:pPr>
            <a:r>
              <a:rPr lang="fr-FR" altLang="zh-CN" sz="2200" dirty="0">
                <a:solidFill>
                  <a:srgbClr val="0070C0"/>
                </a:solidFill>
              </a:rPr>
              <a:t> Effet positif signifie </a:t>
            </a:r>
            <a:r>
              <a:rPr lang="fr-FR" altLang="zh-CN" sz="2200" b="1" dirty="0">
                <a:solidFill>
                  <a:srgbClr val="0070C0"/>
                </a:solidFill>
              </a:rPr>
              <a:t>une augmentation plus forte </a:t>
            </a:r>
            <a:r>
              <a:rPr lang="fr-FR" altLang="zh-CN" sz="2200" dirty="0">
                <a:solidFill>
                  <a:srgbClr val="0070C0"/>
                </a:solidFill>
              </a:rPr>
              <a:t>ou </a:t>
            </a:r>
            <a:r>
              <a:rPr lang="fr-FR" altLang="zh-CN" sz="2200" b="1" dirty="0">
                <a:solidFill>
                  <a:srgbClr val="0070C0"/>
                </a:solidFill>
              </a:rPr>
              <a:t>diminution plus limitée</a:t>
            </a:r>
            <a:r>
              <a:rPr lang="fr-FR" altLang="zh-CN" sz="2200" dirty="0">
                <a:solidFill>
                  <a:srgbClr val="0070C0"/>
                </a:solidFill>
              </a:rPr>
              <a:t>, pas toujours une intensification</a:t>
            </a:r>
          </a:p>
          <a:p>
            <a:pPr marL="0" indent="0">
              <a:buNone/>
            </a:pPr>
            <a:endParaRPr lang="fr-FR" altLang="zh-CN" sz="2200" dirty="0">
              <a:solidFill>
                <a:srgbClr val="0070C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840947-1803-C1DD-FCE4-3E6EFCDEE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900" y="1825625"/>
            <a:ext cx="7191100" cy="436181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5EF6229-FE9D-7D45-38C8-18D645CA5FFD}"/>
              </a:ext>
            </a:extLst>
          </p:cNvPr>
          <p:cNvSpPr/>
          <p:nvPr/>
        </p:nvSpPr>
        <p:spPr>
          <a:xfrm>
            <a:off x="9260732" y="2529840"/>
            <a:ext cx="2093068" cy="253827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354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22095-90B4-88E9-1083-3B9FADFD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20D1-D134-F537-71ED-4F52A2646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Identification</a:t>
            </a:r>
            <a:r>
              <a:rPr lang="fr-FR" altLang="zh-CN" dirty="0"/>
              <a:t> des ajustements (3)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B9BA1E-0B84-A6B1-7D11-C7E391E24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328160" cy="48758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altLang="zh-CN" sz="2400" dirty="0"/>
              <a:t>RQ2: Existe-il une logique similaire entre les signaux textuels et visuels ?</a:t>
            </a:r>
            <a:endParaRPr lang="en-US" altLang="zh-CN" sz="2200" dirty="0"/>
          </a:p>
          <a:p>
            <a:r>
              <a:rPr lang="fr-FR" altLang="zh-CN" sz="2200" dirty="0"/>
              <a:t>Surtout les </a:t>
            </a:r>
            <a:r>
              <a:rPr lang="fr-FR" altLang="zh-CN" sz="2200" b="1" dirty="0"/>
              <a:t>tactiques promotionnelles, les photos de profils avec présence humaine. </a:t>
            </a:r>
            <a:endParaRPr lang="fr-FR" altLang="zh-CN" sz="2200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è"/>
            </a:pPr>
            <a:r>
              <a:rPr lang="fr-FR" altLang="zh-CN" sz="2200" dirty="0">
                <a:solidFill>
                  <a:srgbClr val="0070C0"/>
                </a:solidFill>
              </a:rPr>
              <a:t> Privilégier des signaux de confiance directes, rapides, immédiatement interprétables sous une concurrence accrue</a:t>
            </a:r>
          </a:p>
          <a:p>
            <a:endParaRPr lang="fr-FR" altLang="zh-CN" sz="2200" dirty="0"/>
          </a:p>
          <a:p>
            <a:r>
              <a:rPr lang="fr-FR" altLang="zh-CN" sz="2400" b="1" dirty="0"/>
              <a:t>Ajustement contextualisé : </a:t>
            </a:r>
            <a:r>
              <a:rPr lang="fr-FR" altLang="zh-CN" sz="2400" dirty="0"/>
              <a:t>ouverture, moins pertinent dans un événement international </a:t>
            </a:r>
          </a:p>
          <a:p>
            <a:pPr>
              <a:buFont typeface="Wingdings" panose="05000000000000000000" pitchFamily="2" charset="2"/>
              <a:buChar char="è"/>
            </a:pPr>
            <a:endParaRPr lang="fr-FR" altLang="zh-CN" sz="2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6AF7FF-6CA3-3C96-F356-C4BDA37E3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900" y="1825625"/>
            <a:ext cx="7191100" cy="436181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B2E2A2D-15AB-167B-29C5-0A99BAF27406}"/>
              </a:ext>
            </a:extLst>
          </p:cNvPr>
          <p:cNvSpPr/>
          <p:nvPr/>
        </p:nvSpPr>
        <p:spPr>
          <a:xfrm>
            <a:off x="9844390" y="3429000"/>
            <a:ext cx="1206231" cy="15126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C8FD89-16C0-743E-2E8F-151B7C3A2024}"/>
              </a:ext>
            </a:extLst>
          </p:cNvPr>
          <p:cNvSpPr txBox="1"/>
          <p:nvPr/>
        </p:nvSpPr>
        <p:spPr>
          <a:xfrm>
            <a:off x="8109624" y="2244329"/>
            <a:ext cx="36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b="1" dirty="0">
                <a:solidFill>
                  <a:srgbClr val="0070C0"/>
                </a:solidFill>
              </a:rPr>
              <a:t>?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596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92D83-9E66-C5AB-EA08-2F626402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Hétérogénéité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1DC5A4-5095-22E0-2F80-F039B4FA0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fr-FR" altLang="zh-CN" b="1" dirty="0"/>
              <a:t>Arrivée massive des nouveaux entrants et des nouvelles annonces en juin 2024 à Paris !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14066E-B5C5-EB9D-C353-CBE1243CE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059269"/>
            <a:ext cx="4934493" cy="33647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9683D93-C9DE-6635-CF60-47B327D350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307" y="3128095"/>
            <a:ext cx="4934493" cy="33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41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CA068-B288-1EFC-3C47-A36B6C1B7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850"/>
            <a:ext cx="10515600" cy="1325563"/>
          </a:xfrm>
        </p:spPr>
        <p:txBody>
          <a:bodyPr/>
          <a:lstStyle/>
          <a:p>
            <a:r>
              <a:rPr lang="fr-FR" altLang="zh-CN" dirty="0"/>
              <a:t>Analyses descriptives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E054E9-FC7B-A84F-27BD-3474000F8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247271" cy="5032375"/>
          </a:xfrm>
        </p:spPr>
        <p:txBody>
          <a:bodyPr>
            <a:normAutofit fontScale="92500"/>
          </a:bodyPr>
          <a:lstStyle/>
          <a:p>
            <a:r>
              <a:rPr lang="fr-FR" altLang="zh-CN" dirty="0"/>
              <a:t>Textuelles: </a:t>
            </a:r>
          </a:p>
          <a:p>
            <a:pPr lvl="1"/>
            <a:r>
              <a:rPr lang="fr-FR" altLang="zh-CN" dirty="0"/>
              <a:t>Hôtes existants</a:t>
            </a:r>
            <a:r>
              <a:rPr lang="zh-CN" altLang="en-US" dirty="0"/>
              <a:t> </a:t>
            </a:r>
            <a:r>
              <a:rPr lang="fr-FR" altLang="zh-CN" dirty="0"/>
              <a:t>: profil plus </a:t>
            </a:r>
            <a:r>
              <a:rPr lang="fr-FR" altLang="zh-CN" b="1" dirty="0"/>
              <a:t>stratégique</a:t>
            </a:r>
            <a:r>
              <a:rPr lang="fr-FR" altLang="zh-CN" dirty="0"/>
              <a:t>, privilégient l’auto-promotion</a:t>
            </a:r>
          </a:p>
          <a:p>
            <a:pPr lvl="1"/>
            <a:r>
              <a:rPr lang="fr-FR" altLang="zh-CN" dirty="0"/>
              <a:t>Hôtes nouvellement actifs: profils plus </a:t>
            </a:r>
            <a:r>
              <a:rPr lang="fr-FR" altLang="zh-CN" b="1" dirty="0"/>
              <a:t>homogènes</a:t>
            </a:r>
          </a:p>
          <a:p>
            <a:pPr lvl="1"/>
            <a:endParaRPr lang="fr-FR" altLang="zh-CN" sz="2800" b="1" dirty="0"/>
          </a:p>
          <a:p>
            <a:r>
              <a:rPr lang="fr-FR" altLang="zh-CN" dirty="0"/>
              <a:t>Visuelles : </a:t>
            </a:r>
          </a:p>
          <a:p>
            <a:pPr lvl="1"/>
            <a:r>
              <a:rPr lang="fr-FR" altLang="zh-CN" dirty="0"/>
              <a:t>Répartition</a:t>
            </a:r>
            <a:r>
              <a:rPr lang="zh-CN" altLang="en-US" dirty="0"/>
              <a:t> </a:t>
            </a:r>
            <a:r>
              <a:rPr lang="fr-FR" altLang="zh-CN" dirty="0"/>
              <a:t>globalement</a:t>
            </a:r>
            <a:r>
              <a:rPr lang="zh-CN" altLang="en-US" dirty="0"/>
              <a:t> </a:t>
            </a:r>
            <a:r>
              <a:rPr lang="fr-FR" altLang="zh-CN" b="1" dirty="0"/>
              <a:t>équilibrée</a:t>
            </a:r>
            <a:r>
              <a:rPr lang="fr-FR" altLang="zh-CN" dirty="0"/>
              <a:t> à Londres</a:t>
            </a:r>
          </a:p>
          <a:p>
            <a:pPr lvl="1"/>
            <a:r>
              <a:rPr lang="fr-FR" altLang="zh-CN" dirty="0"/>
              <a:t>Nouveaux entrants à Paris </a:t>
            </a:r>
            <a:r>
              <a:rPr lang="fr-FR" altLang="zh-CN" b="1" dirty="0"/>
              <a:t>préfèrent</a:t>
            </a:r>
            <a:r>
              <a:rPr lang="fr-FR" altLang="zh-CN" dirty="0"/>
              <a:t> les portraits.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6263AA-DFE6-EDA2-1132-6FA898F02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471" y="3936044"/>
            <a:ext cx="7101567" cy="27588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59AB509-3BD4-6D23-EA42-FC7F1B6C2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471" y="1177203"/>
            <a:ext cx="7096605" cy="275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66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9CFD9-1ACD-1410-3E90-FF0D3F3E3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1268"/>
            <a:ext cx="10515600" cy="893404"/>
          </a:xfrm>
        </p:spPr>
        <p:txBody>
          <a:bodyPr>
            <a:normAutofit/>
          </a:bodyPr>
          <a:lstStyle/>
          <a:p>
            <a:r>
              <a:rPr lang="fr-FR" altLang="zh-CN" dirty="0"/>
              <a:t>Adaptations différenciées (1)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03F01C-3009-5419-09DD-8746EFF7A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946" y="1599484"/>
            <a:ext cx="4875854" cy="1686641"/>
          </a:xfrm>
        </p:spPr>
        <p:txBody>
          <a:bodyPr>
            <a:normAutofit/>
          </a:bodyPr>
          <a:lstStyle/>
          <a:p>
            <a:r>
              <a:rPr lang="fr-FR" altLang="zh-CN" sz="2400" b="1" dirty="0"/>
              <a:t>Les hôtes nouvellement actifs:</a:t>
            </a:r>
          </a:p>
          <a:p>
            <a:pPr lvl="1"/>
            <a:r>
              <a:rPr lang="en-US" altLang="zh-CN" sz="2000" dirty="0">
                <a:sym typeface="Wingdings" panose="05000000000000000000" pitchFamily="2" charset="2"/>
              </a:rPr>
              <a:t> Flexible et </a:t>
            </a:r>
            <a:r>
              <a:rPr lang="fr-FR" altLang="zh-CN" sz="2000" dirty="0">
                <a:sym typeface="Wingdings" panose="05000000000000000000" pitchFamily="2" charset="2"/>
              </a:rPr>
              <a:t>réactif</a:t>
            </a:r>
            <a:r>
              <a:rPr lang="fr-FR" altLang="zh-CN" sz="2000" dirty="0"/>
              <a:t> : ajustements plus nombreux et marqués</a:t>
            </a:r>
          </a:p>
          <a:p>
            <a:pPr lvl="1"/>
            <a:endParaRPr lang="fr-FR" altLang="zh-CN" sz="20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FE64A3-9E34-73D3-2FAF-FF87466EA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946" y="1599484"/>
            <a:ext cx="4875854" cy="1248033"/>
          </a:xfrm>
        </p:spPr>
        <p:txBody>
          <a:bodyPr>
            <a:normAutofit/>
          </a:bodyPr>
          <a:lstStyle/>
          <a:p>
            <a:r>
              <a:rPr lang="fr-FR" altLang="zh-CN" sz="2400" b="1" dirty="0"/>
              <a:t>Les hôtes existants :</a:t>
            </a:r>
          </a:p>
          <a:p>
            <a:pPr lvl="1"/>
            <a:r>
              <a:rPr lang="fr-FR" altLang="zh-CN" sz="2000" dirty="0"/>
              <a:t>Adaptation plus ciblée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5304FB-8BB6-A568-4230-A8D500BB1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46" y="2821703"/>
            <a:ext cx="9904107" cy="3794760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04A43E31-28BC-2687-0AA6-241BFC7B71CA}"/>
              </a:ext>
            </a:extLst>
          </p:cNvPr>
          <p:cNvSpPr/>
          <p:nvPr/>
        </p:nvSpPr>
        <p:spPr>
          <a:xfrm>
            <a:off x="3365770" y="3951084"/>
            <a:ext cx="2500683" cy="1410511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87934CD-2FDF-55D1-FB7C-7283A420DB1F}"/>
              </a:ext>
            </a:extLst>
          </p:cNvPr>
          <p:cNvSpPr/>
          <p:nvPr/>
        </p:nvSpPr>
        <p:spPr>
          <a:xfrm>
            <a:off x="9105090" y="4184548"/>
            <a:ext cx="783479" cy="58599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DBF5F41-D197-C194-7D9F-656AFFBB2F70}"/>
              </a:ext>
            </a:extLst>
          </p:cNvPr>
          <p:cNvSpPr/>
          <p:nvPr/>
        </p:nvSpPr>
        <p:spPr>
          <a:xfrm>
            <a:off x="2460812" y="3286126"/>
            <a:ext cx="574239" cy="465604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6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7F821-F0C3-A5F7-81EE-C591D4316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2B5AC-0EBE-A87A-F4CF-606EEB5E0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1268"/>
            <a:ext cx="10515600" cy="893404"/>
          </a:xfrm>
        </p:spPr>
        <p:txBody>
          <a:bodyPr>
            <a:normAutofit/>
          </a:bodyPr>
          <a:lstStyle/>
          <a:p>
            <a:r>
              <a:rPr lang="fr-FR" altLang="zh-CN" dirty="0"/>
              <a:t>Adaptations communes (2)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49AF37-7B47-63B0-4CB7-004D5429B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946" y="1599484"/>
            <a:ext cx="5744858" cy="1463756"/>
          </a:xfrm>
        </p:spPr>
        <p:txBody>
          <a:bodyPr>
            <a:normAutofit/>
          </a:bodyPr>
          <a:lstStyle/>
          <a:p>
            <a:r>
              <a:rPr lang="fr-FR" altLang="zh-CN" sz="2400" b="1" dirty="0"/>
              <a:t>Sensibles au contexte :</a:t>
            </a:r>
          </a:p>
          <a:p>
            <a:pPr lvl="1"/>
            <a:r>
              <a:rPr lang="fr-FR" altLang="zh-CN" sz="2000" dirty="0"/>
              <a:t>auto-promotion ↑</a:t>
            </a:r>
            <a:endParaRPr lang="en-US" altLang="zh-CN" sz="2000" dirty="0"/>
          </a:p>
          <a:p>
            <a:pPr lvl="1"/>
            <a:r>
              <a:rPr lang="en-US" altLang="zh-CN" sz="2000" dirty="0"/>
              <a:t>Présence humaine  </a:t>
            </a:r>
            <a:r>
              <a:rPr lang="fr-FR" altLang="zh-CN" sz="2000" dirty="0"/>
              <a:t>↑</a:t>
            </a:r>
            <a:r>
              <a:rPr lang="en-US" altLang="zh-CN" sz="2000" dirty="0"/>
              <a:t>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4D8934-71E4-D312-BB2A-003F2507B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6" y="3063240"/>
            <a:ext cx="9904107" cy="3794760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406C2B1-F325-D01B-C79C-7BB7A2BF0594}"/>
              </a:ext>
            </a:extLst>
          </p:cNvPr>
          <p:cNvCxnSpPr>
            <a:cxnSpLocks/>
          </p:cNvCxnSpPr>
          <p:nvPr/>
        </p:nvCxnSpPr>
        <p:spPr>
          <a:xfrm>
            <a:off x="3754877" y="4815191"/>
            <a:ext cx="605060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FA19E3D-FA44-5D47-B409-11085B828256}"/>
              </a:ext>
            </a:extLst>
          </p:cNvPr>
          <p:cNvSpPr/>
          <p:nvPr/>
        </p:nvSpPr>
        <p:spPr>
          <a:xfrm>
            <a:off x="3754877" y="5174978"/>
            <a:ext cx="6050604" cy="56420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5A30A6-0690-E354-9E6D-9382F19546D7}"/>
              </a:ext>
            </a:extLst>
          </p:cNvPr>
          <p:cNvSpPr txBox="1"/>
          <p:nvPr/>
        </p:nvSpPr>
        <p:spPr>
          <a:xfrm>
            <a:off x="6535711" y="1595458"/>
            <a:ext cx="522956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zh-CN" sz="2200" b="1" noProof="0" dirty="0"/>
              <a:t>Continuité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altLang="zh-CN" sz="2200" dirty="0"/>
              <a:t>Prolonger dans leur mode de présentation déjà établi</a:t>
            </a:r>
            <a:endParaRPr lang="fr-FR" altLang="zh-CN" sz="2200" noProof="0" dirty="0"/>
          </a:p>
        </p:txBody>
      </p:sp>
    </p:spTree>
    <p:extLst>
      <p:ext uri="{BB962C8B-B14F-4D97-AF65-F5344CB8AC3E}">
        <p14:creationId xmlns:p14="http://schemas.microsoft.com/office/powerpoint/2010/main" val="374496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C74EA-F06A-C90D-1BB0-E957BD6C7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101"/>
            <a:ext cx="10515600" cy="1325563"/>
          </a:xfrm>
        </p:spPr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1606AD-934F-B4E6-BDE6-E4E3ACC10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658"/>
            <a:ext cx="10672483" cy="5305424"/>
          </a:xfrm>
        </p:spPr>
        <p:txBody>
          <a:bodyPr>
            <a:normAutofit/>
          </a:bodyPr>
          <a:lstStyle/>
          <a:p>
            <a:r>
              <a:rPr lang="fr-FR" altLang="zh-CN" b="1" dirty="0"/>
              <a:t>Adaptation</a:t>
            </a:r>
          </a:p>
          <a:p>
            <a:pPr lvl="1"/>
            <a:r>
              <a:rPr lang="fr-FR" altLang="zh-CN" dirty="0"/>
              <a:t>Les hôtes ajustent activement leur présentation de soi en réponse aux transformations du marché, induites par les JO Paris 2024.</a:t>
            </a:r>
          </a:p>
          <a:p>
            <a:r>
              <a:rPr lang="fr-FR" altLang="zh-CN" b="1" dirty="0"/>
              <a:t>Convergence</a:t>
            </a:r>
          </a:p>
          <a:p>
            <a:pPr lvl="1"/>
            <a:r>
              <a:rPr lang="fr-FR" altLang="zh-CN" dirty="0"/>
              <a:t>Les ajustements textuels et visuels visent à mettre en avant les signaux de confiance plus rapides et plus directes dans une concurrence intensifiée.</a:t>
            </a:r>
          </a:p>
          <a:p>
            <a:r>
              <a:rPr lang="fr-FR" altLang="zh-CN" b="1" dirty="0"/>
              <a:t>Hétérogénéité</a:t>
            </a:r>
          </a:p>
          <a:p>
            <a:pPr lvl="1"/>
            <a:r>
              <a:rPr lang="fr-FR" altLang="zh-CN" dirty="0"/>
              <a:t>Les hôtes nouvellement actifs sont plus flexibles et réactifs, tandis que les hôtes existants adoptent des ajustements plus ciblés.</a:t>
            </a:r>
          </a:p>
          <a:p>
            <a:pPr lvl="1"/>
            <a:r>
              <a:rPr lang="fr-FR" altLang="zh-CN" dirty="0"/>
              <a:t>Les ajustements s’inscrivent dans le prolongement du mode déjà établi.</a:t>
            </a:r>
          </a:p>
          <a:p>
            <a:pPr lvl="1"/>
            <a:endParaRPr lang="fr-FR" altLang="zh-CN" b="1" dirty="0"/>
          </a:p>
          <a:p>
            <a:pPr marL="0" indent="0">
              <a:buNone/>
            </a:pPr>
            <a:r>
              <a:rPr lang="fr-FR" altLang="zh-CN" sz="2400" b="1" dirty="0">
                <a:sym typeface="Wingdings" panose="05000000000000000000" pitchFamily="2" charset="2"/>
              </a:rPr>
              <a:t> L</a:t>
            </a:r>
            <a:r>
              <a:rPr lang="en-US" altLang="zh-CN" sz="2400" b="1" dirty="0">
                <a:sym typeface="Wingdings" panose="05000000000000000000" pitchFamily="2" charset="2"/>
              </a:rPr>
              <a:t>a</a:t>
            </a:r>
            <a:r>
              <a:rPr lang="fr-FR" altLang="zh-CN" sz="2400" b="1" dirty="0">
                <a:sym typeface="Wingdings" panose="05000000000000000000" pitchFamily="2" charset="2"/>
              </a:rPr>
              <a:t> présentation de soi est stratégique, elle est à la fois contextuelle, contrainte, hétérogène et cumulative.</a:t>
            </a:r>
            <a:endParaRPr lang="fr-FR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135879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46B1ACC-349B-5DC1-432B-368FC7396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734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19453</TotalTime>
  <Words>3035</Words>
  <Application>Microsoft Office PowerPoint</Application>
  <PresentationFormat>宽屏</PresentationFormat>
  <Paragraphs>367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Arial</vt:lpstr>
      <vt:lpstr>Wingdings</vt:lpstr>
      <vt:lpstr>Office 主题​​</vt:lpstr>
      <vt:lpstr>Stratégies de la présentation de soi des hôtes Airbnb  en réponse aux Jeux Olympiques de Paris 2024</vt:lpstr>
      <vt:lpstr>Plan </vt:lpstr>
      <vt:lpstr>Contexte</vt:lpstr>
      <vt:lpstr>Questions de recherche &amp; hypothèses</vt:lpstr>
      <vt:lpstr>Données</vt:lpstr>
      <vt:lpstr>Transformations du marché</vt:lpstr>
      <vt:lpstr>Mesure des tactiques textuelles </vt:lpstr>
      <vt:lpstr>Validation de la mesure</vt:lpstr>
      <vt:lpstr>Classification des photos</vt:lpstr>
      <vt:lpstr>Analyses descriptives</vt:lpstr>
      <vt:lpstr>Identification des ajustements (1)</vt:lpstr>
      <vt:lpstr>Identification des ajustements (2)</vt:lpstr>
      <vt:lpstr>Identification des ajustements (3)</vt:lpstr>
      <vt:lpstr>Hétérogénéité </vt:lpstr>
      <vt:lpstr>Analyses descriptives</vt:lpstr>
      <vt:lpstr>Adaptations différenciées (1)</vt:lpstr>
      <vt:lpstr>Adaptations communes (2)</vt:lpstr>
      <vt:lpstr>Conclusion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 LIU</dc:creator>
  <cp:lastModifiedBy>Ye LIU</cp:lastModifiedBy>
  <cp:revision>1378</cp:revision>
  <dcterms:created xsi:type="dcterms:W3CDTF">2026-05-15T14:35:39Z</dcterms:created>
  <dcterms:modified xsi:type="dcterms:W3CDTF">2026-06-11T13:55:16Z</dcterms:modified>
</cp:coreProperties>
</file>